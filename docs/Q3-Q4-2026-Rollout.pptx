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Q3-Q4 2026 rollout for the AI Academy (training OPCs) and the AI Film Studio. Tools: Cora AI Gateway + openIP for OPCs; Cora AI Film Studio (already built, being integrated) for produced films.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engines share the flywheel. Academy monetizes via course fees + recurring tools; Film Studio via production, per-film funding, and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Cora AI Film Studio is already built — it just isn't in this repo/stack yet. Integration is Q3-FS1; client-readiness is Q4-FS2.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scales on volume (digital-first). S2 carries margin (offline-first). S3 runs on revenue-share and feeds the Film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 ascends in depth, price, commitment. Rung 1 tripwire, Rung 2 volume workhorse, Rungs 3-5 high-value anchors + talent pipeline for the Film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intro funds acquisition; the ladder + tools fund the business. Measure every step against these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businesses, one bridge. The bridge is where the strategy lives or 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two scorecards separate — a healthy Academy can still leak a broken Tools business, and vice 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Q3-FS1: integrate the already-built Cora AI Film Studio into our stack; it gates the Film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gate. All six must clear to move into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Q4-FS2 hardens the film tool to production-ready before any paid client films.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illustrative — refine from real cohort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legal risk in the plan. Start the counsel review early — long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film-tool risk is now integration (it's built, not in our stack yet), not a from-scratch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team — one person may hold several roles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film-tool integration and the compliance review now — both are long-lead and block later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ROLLOUT · INTERNAL TEAM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</a:t>
            </a:r>
            <a:pPr indent="0" marL="0">
              <a:buNone/>
            </a:pPr>
            <a:r>
              <a:rPr lang="en-US" sz="5200" b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pPr indent="0" marL="0">
              <a:buNone/>
            </a:pPr>
            <a:r>
              <a:rPr lang="en-US" sz="5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Film Studio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engines, one AI toolchain — Q3–Q4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02336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233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81528" y="4023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4023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402336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40233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→ Q4 2026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AI toolchain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— OPC training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2834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offline classes and digital content that teach people to run as AI-powered one-person companies.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+ openIP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Learners, then B2B / edu partners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fees + recurring tool subscriptions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4808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Film Studio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4808" y="2834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AI-made films, two paths: train OPCs to make films, and produce films for enterprise / SME with investment raised per movie.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64808" y="3749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(separate)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SME clients; per-film backers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fees + per-film funding + licensing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5212080"/>
            <a:ext cx="10835640" cy="868680"/>
          </a:xfrm>
          <a:prstGeom prst="roundRect">
            <a:avLst>
              <a:gd name="adj" fmla="val 9474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521208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  </a:t>
            </a:r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→ OPCs on Cora AI Gateway + openIP (recurring) → creators monetize on openIP → top OPCs staff the Film Studio → films become the marketing that fills the next cohort.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does what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21408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86968" y="26517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· everyday AI 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63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general AI assistant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— agentic AI work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Studio — short reels &amp; content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4297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182880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12140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73168" y="26517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· monetization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3063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Creator-IP tokenization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storefront + AI-clone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terminal (SEA / WebTVAsia)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4297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9328" y="182880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59368" y="2121408"/>
            <a:ext cx="256032" cy="25603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084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659368" y="26517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Studio · produced films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59368" y="3063240"/>
            <a:ext cx="2953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film-production tool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Longer-form / client work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monetizes the film 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59368" y="4297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4297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274552" cy="822960"/>
          </a:xfrm>
          <a:prstGeom prst="roundRect">
            <a:avLst>
              <a:gd name="adj" fmla="val 10000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50292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 </a:t>
            </a:r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reels &amp; daily AI work → 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produced films → 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monetize the IP → </a:t>
            </a:r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OPC segments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4884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47088" y="2029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graduates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47088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an AI career, or no job after graduation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93208" y="2103120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1808" y="20482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21808" y="230428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Accelerator — cohort, low price, high volume, scholarship / income-share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3721608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721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7088" y="3602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Mid-life, 35–55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47088" y="40599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AI; want it for work performance or to open a business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93208" y="3675888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36210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21808" y="387705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Professionals / "Second Act" — premium, hand-held, strong offline classes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294376"/>
            <a:ext cx="731520" cy="7315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52943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47088" y="51755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/ KOL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47088" y="5632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audience &amp; content; make AI films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93208" y="5248656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5193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544982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Monetization + AI Studio — revenue-share, done-with-you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value ladder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01952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35608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OPC Discovery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35608" y="2185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online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98848" y="1865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trike="sngStrike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RM999  </a:t>
            </a:r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98848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seats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" y="2660904"/>
            <a:ext cx="608076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" y="2807208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2807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36776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Launch Bootcamp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36776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online + lab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0056" y="27706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trike="sngStrike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RM2,499  </a:t>
            </a:r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RM1,799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0056" y="3118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bird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9264" y="3566160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70432" y="3712464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37944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Certificate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837944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· cohort + mentorship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1264" y="36758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RM9,900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41264" y="4023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RM990/mo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70432" y="4471416"/>
            <a:ext cx="672084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0" y="4617720"/>
            <a:ext cx="493776" cy="49377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617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39112" y="45902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Diploma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039112" y="49011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· + practicum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62472" y="45811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RM17,800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62472" y="4928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RM8,900/yr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371600" y="5376672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72768" y="5522976"/>
            <a:ext cx="493776" cy="49377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4" name="Text 32"/>
          <p:cNvSpPr/>
          <p:nvPr/>
        </p:nvSpPr>
        <p:spPr>
          <a:xfrm>
            <a:off x="1572768" y="5522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40280" y="5495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Mastery — Founder Track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2240280" y="5806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· + paid studio work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486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RM32,000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3680" y="5833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RM8,000/yr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41080" y="2286000"/>
            <a:ext cx="2980944" cy="3383280"/>
          </a:xfrm>
          <a:prstGeom prst="roundRect">
            <a:avLst>
              <a:gd name="adj" fmla="val 2761"/>
            </a:avLst>
          </a:prstGeom>
          <a:solidFill>
            <a:srgbClr val="241A3D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154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RUNG BUNDLES THE OPC TOOLS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3063240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+ openIP come bundled at every rung — so course revenue converts into recurring tool revenue.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intro is a tripwire: priced to feel like a steal, built to pre-sell the ladder.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Ascension pathways &amp; target conversion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CLIMBS TO THE TOP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" y="25146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Graduates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7523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Diploma / Mastery (2–4 yr)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3474720"/>
            <a:ext cx="201168" cy="20116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Mid-life 35–55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37124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Certificate (1 yr)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4434840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Influencers / KOL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4672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Certificate + revenue-share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ascension tracks off one intro — each pointing at the ceiling that segment actually buys.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CONVERSION AT EACH STEP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9128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 → Discover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39128" y="3118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2168" y="31638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Bootcamp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39128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02168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→ Certificate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39128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02168" y="4553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→ Diploma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39128" y="5202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02168" y="5248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→ Mastery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 &amp; the bridge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41A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NORTH STAR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monetizing — students earning income with AI (e.g. ≥ RM500/mo)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Academy (marketing), drives Tools retention, and justifies premium pricing — at once. Financial twin: blended MRR.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paying tool subscriber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flywheel's core conversion. If this breaks, we're just a course seller.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531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31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LTV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ladder LTV + tool subscription LTV per student.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593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593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Graduate-earning 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59368" y="489204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metric that lowers CAC and raises pricing power.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metrics tell you if the strategy works — watch them at every monthly review.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scorecards: Academy vs AI Tools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economics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signups (paid)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7024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≥100 · Q4 ≥500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intro buyer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024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RM120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intro conv.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024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ascension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7024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targets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024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7024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rate (job/OPC/RM)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7024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@ 90d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LTV : CAC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7024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: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480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6480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6480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+ openIP · recurring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480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 (activate tool)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4808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480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@30d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4808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6480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Post-bundle paid conv.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4808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6480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MRR / ARR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4808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6480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4808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4808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6480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GMV &amp; creators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4808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6480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4808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B2C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Jul–Sep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93008" y="54864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93008" y="548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BUILD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weeks in. Prove demand with small paid pilots — not scale. Every milestone has a measurable exit.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68119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63040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58568" y="1463040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MVP v0 — one flagship track per segment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02368" y="158975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2368" y="158975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155371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373521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155371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8568" y="2155371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"learner mode" — onboarding + usage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02368" y="2282081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282081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847703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3065853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847703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Q3-FS1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58568" y="2847703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Cora AI Film Studio into our stack — bring into repo, wire access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02368" y="2974413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2974413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540034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758184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540034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58568" y="3540034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#1 (paid, small) — blended online + offline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02368" y="3666744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3666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5–30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232366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450515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4232366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58568" y="4232366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PoC #1 on Cora AI Film Studio — one short, end-to-end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02368" y="4359075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2368" y="435907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924697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5142847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924697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58568" y="4924697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creator pilot — 3–5 KOLs, storefront + AI-clone live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802368" y="505140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02368" y="50514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617029"/>
            <a:ext cx="11064240" cy="600891"/>
          </a:xfrm>
          <a:prstGeom prst="roundRect">
            <a:avLst>
              <a:gd name="adj" fmla="val 13696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835178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617029"/>
            <a:ext cx="105156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58568" y="5617029"/>
            <a:ext cx="7315200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compliance base — pricing + investment framing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802368" y="574373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02368" y="574373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EXIT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before we scale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Q4 scaling only if ALL of these clear. Miss any one → run an October hardening sprint before spending on growth.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4688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paying learners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620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24688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pilot completion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3794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published short · known cost/min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620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0608" y="3794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live openIP creators with sales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81328" y="5120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integrated &amp; working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3620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5624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5120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signed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Oct–Dec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93008" y="54864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93008" y="548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validated pilots into repeatable revenue, and land the first commercial film work.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637919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6304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58568" y="146304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v1 — all 3 tracks complete + certificate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02368" y="154647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2368" y="154647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06883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243709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06883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58568" y="206883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#2 at scale — 150–300 learners, open enrolment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02368" y="215226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15226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67462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2849499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67462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58568" y="267462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expansion (S2) — 2–3 in-person workshops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02368" y="275805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275805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28041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455289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28041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Q4-FS2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58568" y="328041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— client-delivery ready (productionize for paid work)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02368" y="336384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336384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88620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061079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388620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58568" y="388620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Studio commercial pilot — deliver 2 paid client films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02368" y="396963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2368" y="396963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30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49199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4666869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49199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58568" y="449199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Per-film investment model live — compliant + 1 funded film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802368" y="457542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02368" y="457542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09778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272659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09778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58568" y="509778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× Film IP — monetize one film's IP / merch / tokens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802368" y="518121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02368" y="518121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" y="5703570"/>
            <a:ext cx="11064240" cy="514350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9536" y="5878449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1133856" y="5703570"/>
            <a:ext cx="1051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58568" y="5703570"/>
            <a:ext cx="7315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 &amp; 2027 plan — metrics, unit economics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802368" y="578700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02368" y="578700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 by December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150–300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enrolments in cohort #2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9300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5888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67328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on a recurring Cora AI Gateway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1908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93408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films delivered + 1 funded per-film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4516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8048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619488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openIP creators, growing fiat GMV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promote any per-film raise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64240" cy="3383280"/>
          </a:xfrm>
          <a:prstGeom prst="roundRect">
            <a:avLst>
              <a:gd name="adj" fmla="val 2432"/>
            </a:avLst>
          </a:prstGeom>
          <a:solidFill>
            <a:srgbClr val="241A3D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COMPLIANCE GATE — "investment per movie"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profit or returns from others' effort can cross into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territory (the Howey line). openIP's own house rule already reflects this — we speak in terms of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utility / licensing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dividends, guaranteed returns, or "invest and profit."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43434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counsel to bless the structure (film-financing SOW, sponsorship, pre-sale, or licensing) AND the exact marketing language before any raise. Hard gate: Q3-M6 → Q4-M5.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how we hold them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0312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78308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Academy + Film + 3 segments at once (thin team)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7648" y="17830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= one flagship track + one film PoC; sequence, don't parallelize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306324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74320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built but not yet in our stack/repo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7648" y="274320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import + access wiring (Q3-FS1); it's integration, not a build; client work behind Q4-FS2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02336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370332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sells but learners don't retain on the tool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37033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Cora AI Gateway attach into the curriculum from lesson 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344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498348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66344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Per-film "investment" framed as securities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466344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 before any raise; counsel-approved language only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94360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562356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too high for price-sensitive Segment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56235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/ income-share + organic &amp; KOL funnels; keep S1 digital-first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EXECUTES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sequence &amp; operating rhythm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5808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instructors, delivery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0998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30998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ads, KOL, enrolment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ascension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35808" y="38221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pitch, ladder conversions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968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35808" y="45445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+ openIP provisioning, dashboards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968" y="52669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finance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35808" y="52669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LMS, CRM, KPI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17830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22860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Ship the RM299 intro first — it's the ignition.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Lay rails: payments, LMS, CRM, auto tool-provisioning.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Build the Bootcamp while intro cohorts run.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Outline rungs 3–5; open a waitlist / deposit.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4768" y="402336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4808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RHYTHM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4526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signups, CAC, conversion, engagement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cohort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ascension, completion, attach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scorecards A+B+Bridge, MRR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LTV:CAC, NRR, North Star, reprice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actions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52728" y="2743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real owner to each workstream.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44728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3401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one flagship track + one segment to lead Q3 (start with cheapest reach — likely S3 / KOL).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105656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728" y="40599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counsel review for film-investment framing now — long lead.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64024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47183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Cora AI Film Studio into our repo/stack (Q3-FS1) — the tool exists; this enables the Film PoC.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4223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53766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learner-usage dashboard in Cora AI Gateway.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Q3-Q4 2026 Product Rollout</dc:title>
  <dc:subject>PptxGenJS Presentation</dc:subject>
  <dc:creator>Founder</dc:creator>
  <cp:lastModifiedBy>Founder</cp:lastModifiedBy>
  <cp:revision>1</cp:revision>
  <dcterms:created xsi:type="dcterms:W3CDTF">2026-07-28T04:19:38Z</dcterms:created>
  <dcterms:modified xsi:type="dcterms:W3CDTF">2026-07-28T04:19:38Z</dcterms:modified>
</cp:coreProperties>
</file>
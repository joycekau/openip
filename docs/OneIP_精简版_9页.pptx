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A99FC0"/>
                </a:solidFill>
                <a:latin typeface="Microsoft YaHei"/>
              </a:rPr>
              <a:t>平台年收入预测（规模化情景）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平台年收入 (万美金)</c:v>
                </c:pt>
              </c:strCache>
            </c:strRef>
          </c:tx>
          <c:dPt>
            <c:idx val="0"/>
            <c:spPr>
              <a:solidFill>
                <a:srgbClr val="8B5CF6"/>
              </a:solidFill>
            </c:spPr>
          </c:dPt>
          <c:dPt>
            <c:idx val="1"/>
            <c:spPr>
              <a:solidFill>
                <a:srgbClr val="EC4899"/>
              </a:solidFill>
            </c:spPr>
          </c:dPt>
          <c:dPt>
            <c:idx val="2"/>
            <c:spPr>
              <a:solidFill>
                <a:srgbClr val="22D3EE"/>
              </a:solidFill>
            </c:spPr>
          </c:dPt>
          <c:cat>
            <c:strRef>
              <c:f>Sheet1!$A$2:$A$4</c:f>
              <c:strCache>
                <c:ptCount val="3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300</c:v>
                </c:pt>
                <c:pt idx="1">
                  <c:v>2500</c:v>
                </c:pt>
                <c:pt idx="2">
                  <c:v>15000</c:v>
                </c:pt>
              </c:numCache>
            </c:numRef>
          </c:val>
        </c:ser>
        <c:dLbls>
          <c:numFmt formatCode="#,##0&quot;万&quot;" sourceLinked="0"/>
          <c:txPr>
            <a:bodyPr/>
            <a:lstStyle/>
            <a:p>
              <a:pPr>
                <a:defRPr sz="1200" b="1">
                  <a:solidFill>
                    <a:srgbClr val="F4EFFC"/>
                  </a:solidFill>
                  <a:latin typeface="Space Grotes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A99FC0"/>
                </a:solidFill>
                <a:latin typeface="Space Grotesk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 w="6350">
              <a:solidFill>
                <a:srgbClr val="2A214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A99FC0"/>
                </a:solidFill>
                <a:latin typeface="Space Grotesk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STORY DECK · 精简版 9 页</a:t>
            </a:r>
          </a:p>
        </p:txBody>
      </p:sp>
      <p:pic>
        <p:nvPicPr>
          <p:cNvPr id="4" name="Picture 3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24128"/>
            <a:ext cx="1234440" cy="1234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9384" y="1024128"/>
            <a:ext cx="68580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6600" b="1">
                <a:solidFill>
                  <a:srgbClr val="22D3EE"/>
                </a:solidFill>
                <a:latin typeface="Space Grotesk"/>
                <a:ea typeface="Microsoft YaHei"/>
              </a:rPr>
              <a:t>n</a:t>
            </a:r>
            <a:r>
              <a:rPr sz="6600" b="1">
                <a:solidFill>
                  <a:srgbClr val="22D3EE"/>
                </a:solidFill>
                <a:latin typeface="Space Grotesk"/>
                <a:ea typeface="Microsoft YaHei"/>
              </a:rPr>
              <a:t>e</a:t>
            </a:r>
            <a:r>
              <a:rPr sz="6600" b="1">
                <a:solidFill>
                  <a:srgbClr val="8B5CF6"/>
                </a:solidFill>
                <a:latin typeface="Space Grotesk"/>
                <a:ea typeface="Microsoft YaHei"/>
              </a:rPr>
              <a:t>I</a:t>
            </a:r>
            <a:r>
              <a:rPr sz="6600" b="1">
                <a:solidFill>
                  <a:srgbClr val="EC4899"/>
                </a:solidFill>
                <a:latin typeface="Space Grotesk"/>
                <a:ea typeface="Microsoft YaHei"/>
              </a:rPr>
              <a:t>P</a:t>
            </a:r>
            <a:r>
              <a:rPr sz="6600" b="1">
                <a:solidFill>
                  <a:srgbClr val="EC4899"/>
                </a:solidFill>
                <a:latin typeface="Space Grotesk"/>
                <a:ea typeface="Microsoft YaHei"/>
              </a:rPr>
              <a:t>.</a:t>
            </a:r>
            <a:r>
              <a:rPr sz="6600" b="1">
                <a:solidFill>
                  <a:srgbClr val="F472B6"/>
                </a:solidFill>
                <a:latin typeface="Space Grotesk"/>
                <a:ea typeface="Microsoft YaHei"/>
              </a:rPr>
              <a:t>i</a:t>
            </a:r>
            <a:r>
              <a:rPr sz="6600" b="1">
                <a:solidFill>
                  <a:srgbClr val="FB7185"/>
                </a:solidFill>
                <a:latin typeface="Space Grotesk"/>
                <a:ea typeface="Microsoft YaHei"/>
              </a:rPr>
              <a:t>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86000"/>
            <a:ext cx="7315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>
                <a:solidFill>
                  <a:srgbClr val="22D3EE"/>
                </a:solidFill>
                <a:latin typeface="Space Grotesk"/>
                <a:ea typeface="Microsoft YaHei"/>
              </a:rPr>
              <a:t>OneIP</a:t>
            </a:r>
            <a:r>
              <a:rPr sz="3300" b="0">
                <a:solidFill>
                  <a:srgbClr val="7A6F96"/>
                </a:solidFill>
                <a:latin typeface="Space Grotesk"/>
                <a:ea typeface="Microsoft YaHei"/>
              </a:rPr>
              <a:t> + </a:t>
            </a:r>
            <a:r>
              <a:rPr sz="3300" b="1">
                <a:solidFill>
                  <a:srgbClr val="F472B6"/>
                </a:solidFill>
                <a:latin typeface="Space Grotesk"/>
                <a:ea typeface="Microsoft YaHei"/>
              </a:rPr>
              <a:t>OPC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44368"/>
            <a:ext cx="8046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4EFFC"/>
                </a:solidFill>
                <a:latin typeface="Space Grotesk"/>
                <a:ea typeface="Microsoft YaHei"/>
              </a:rPr>
              <a:t>OPC = One Personal Company</a:t>
            </a:r>
            <a:r>
              <a:rPr sz="1400" b="0">
                <a:solidFill>
                  <a:srgbClr val="A99FC0"/>
                </a:solidFill>
                <a:latin typeface="Microsoft YaHei"/>
                <a:ea typeface="Microsoft YaHei"/>
              </a:rPr>
              <a:t>　一人即一家公司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456432"/>
            <a:ext cx="79552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F472B6"/>
                </a:solidFill>
                <a:latin typeface="Microsoft YaHei"/>
                <a:ea typeface="Microsoft YaHei"/>
              </a:rPr>
              <a:t>品牌 IP 一键发币</a:t>
            </a:r>
            <a:r>
              <a:rPr sz="1800" b="0">
                <a:solidFill>
                  <a:srgbClr val="7A6F96"/>
                </a:solidFill>
                <a:latin typeface="Microsoft YaHei"/>
                <a:ea typeface="Microsoft YaHei"/>
              </a:rPr>
              <a:t> · </a:t>
            </a:r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</a:rPr>
              <a:t>链接粉丝</a:t>
            </a:r>
            <a:r>
              <a:rPr sz="1800" b="0">
                <a:solidFill>
                  <a:srgbClr val="7A6F96"/>
                </a:solidFill>
                <a:latin typeface="Microsoft YaHei"/>
                <a:ea typeface="Microsoft YaHei"/>
              </a:rPr>
              <a:t> · </a:t>
            </a:r>
            <a:r>
              <a:rPr sz="1800" b="1">
                <a:solidFill>
                  <a:srgbClr val="8B5CF6"/>
                </a:solidFill>
                <a:latin typeface="Microsoft YaHei"/>
                <a:ea typeface="Microsoft YaHei"/>
              </a:rPr>
              <a:t>价值共创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5120640"/>
            <a:ext cx="2331720" cy="868680"/>
          </a:xfrm>
          <a:prstGeom prst="roundRect">
            <a:avLst>
              <a:gd name="adj" fmla="val 22000"/>
            </a:avLst>
          </a:prstGeom>
          <a:solidFill>
            <a:srgbClr val="1B1232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527608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融资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555040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22D3EE"/>
                </a:solidFill>
                <a:latin typeface="Space Grotesk"/>
                <a:ea typeface="Microsoft YaHei"/>
              </a:rPr>
              <a:t>200 万美金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0984" y="5120640"/>
            <a:ext cx="2331720" cy="868680"/>
          </a:xfrm>
          <a:prstGeom prst="roundRect">
            <a:avLst>
              <a:gd name="adj" fmla="val 22000"/>
            </a:avLst>
          </a:prstGeom>
          <a:solidFill>
            <a:srgbClr val="1B1232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6" y="527608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让出原始股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555040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F472B6"/>
                </a:solidFill>
                <a:latin typeface="Space Grotesk"/>
                <a:ea typeface="Microsoft YaHei"/>
              </a:rPr>
              <a:t>20%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88736" y="5120640"/>
            <a:ext cx="2331720" cy="868680"/>
          </a:xfrm>
          <a:prstGeom prst="roundRect">
            <a:avLst>
              <a:gd name="adj" fmla="val 22000"/>
            </a:avLst>
          </a:prstGeom>
          <a:solidFill>
            <a:srgbClr val="1B1232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527608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投后估值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555040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8B5CF6"/>
                </a:solidFill>
                <a:latin typeface="Space Grotesk"/>
                <a:ea typeface="Microsoft YaHei"/>
              </a:rPr>
              <a:t>1,000 万美金</a:t>
            </a:r>
          </a:p>
        </p:txBody>
      </p:sp>
      <p:pic>
        <p:nvPicPr>
          <p:cNvPr id="18" name="Picture 17" descr="on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371600"/>
            <a:ext cx="3200400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85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THE SHIFT · 时代变了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>
                <a:solidFill>
                  <a:srgbClr val="F4EFFC"/>
                </a:solidFill>
                <a:latin typeface="Microsoft YaHei"/>
                <a:ea typeface="Microsoft YaHei"/>
              </a:rPr>
              <a:t>AI 正在吞噬一切可被复制的东西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550" b="0">
                <a:solidFill>
                  <a:srgbClr val="A99FC0"/>
                </a:solidFill>
                <a:latin typeface="Microsoft YaHei"/>
                <a:ea typeface="Microsoft YaHei"/>
              </a:rPr>
              <a:t>客服、设计、文案、编程、初级岗位——正被 AI 一一接管。价值，正从「可复制的劳动」迁移到「不可复制的人」。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017520"/>
            <a:ext cx="3520440" cy="219456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4290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600" b="1">
                <a:solidFill>
                  <a:srgbClr val="22D3EE"/>
                </a:solidFill>
                <a:latin typeface="Space Grotesk"/>
                <a:ea typeface="Microsoft YaHei"/>
              </a:rPr>
              <a:t>$4.9T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5262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Microsoft YaHei"/>
                <a:ea typeface="Microsoft YaHei"/>
              </a:rPr>
              <a:t>2030 AI 全球经济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017520"/>
            <a:ext cx="3520440" cy="219456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34290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600" b="1">
                <a:solidFill>
                  <a:srgbClr val="EC4899"/>
                </a:solidFill>
                <a:latin typeface="Space Grotesk"/>
                <a:ea typeface="Microsoft YaHei"/>
              </a:rPr>
              <a:t>35%+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45262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Microsoft YaHei"/>
                <a:ea typeface="Microsoft YaHei"/>
              </a:rPr>
              <a:t>可自动化岗位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3017520"/>
            <a:ext cx="3520440" cy="219456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7072" y="34290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600" b="1">
                <a:solidFill>
                  <a:srgbClr val="F472B6"/>
                </a:solidFill>
                <a:latin typeface="Space Grotesk"/>
                <a:ea typeface="Microsoft YaHei"/>
              </a:rPr>
              <a:t>$500B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45262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Microsoft YaHei"/>
                <a:ea typeface="Microsoft YaHei"/>
              </a:rPr>
              <a:t>创作者经济规模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486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8B5CF6"/>
                </a:solidFill>
                <a:latin typeface="Microsoft YaHei"/>
                <a:ea typeface="Microsoft YaHei"/>
              </a:rPr>
              <a:t>→ 稀缺性，成为唯一的溢价来源。</a:t>
            </a:r>
          </a:p>
        </p:txBody>
      </p:sp>
      <p:pic>
        <p:nvPicPr>
          <p:cNvPr id="16" name="Picture 1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精简故事版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02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3035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MEGATREND · 趋势数据（行业预测）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F4EFFC"/>
                </a:solidFill>
                <a:latin typeface="Microsoft YaHei"/>
                <a:ea typeface="Microsoft YaHei"/>
              </a:rPr>
              <a:t>AI 越强，个人 IP 越值钱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0817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A99FC0"/>
                </a:solidFill>
                <a:latin typeface="Microsoft YaHei"/>
                <a:ea typeface="Microsoft YaHei"/>
              </a:rPr>
              <a:t>机构预测（IDC · Stanford HAI · Goldman Sachs · WEF · McKinsey）：AI 经济狂飙、岗位重构，个人品牌成为出口。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spc="60">
                <a:solidFill>
                  <a:srgbClr val="7A6F96"/>
                </a:solidFill>
                <a:latin typeface="Microsoft YaHei"/>
                <a:ea typeface="Microsoft YaHei"/>
              </a:rPr>
              <a:t>指标 · 行业预测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105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7A6F96"/>
                </a:solidFill>
                <a:latin typeface="Space Grotesk"/>
                <a:ea typeface="Microsoft YaHei"/>
              </a:rPr>
              <a:t>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105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7A6F96"/>
                </a:solidFill>
                <a:latin typeface="Space Grotesk"/>
                <a:ea typeface="Microsoft YaHei"/>
              </a:rPr>
              <a:t>2028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8105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7A6F96"/>
                </a:solidFill>
                <a:latin typeface="Space Grotesk"/>
                <a:ea typeface="Microsoft YaHei"/>
              </a:rPr>
              <a:t>2029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8105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7A6F96"/>
                </a:solidFill>
                <a:latin typeface="Space Grotesk"/>
                <a:ea typeface="Microsoft YaHei"/>
              </a:rPr>
              <a:t>2030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66543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26771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066543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Microsoft YaHei"/>
                <a:ea typeface="Microsoft YaHei"/>
              </a:rPr>
              <a:t>AI 全球经济价值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6654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$3.2T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6654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$3.8T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06654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$4.4T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206654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22D3EE"/>
                </a:solidFill>
                <a:latin typeface="Space Grotesk"/>
                <a:ea typeface="Microsoft YaHei"/>
              </a:rPr>
              <a:t>$4.9T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06039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2807208"/>
            <a:ext cx="100584" cy="10058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2606039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Microsoft YaHei"/>
                <a:ea typeface="Microsoft YaHei"/>
              </a:rPr>
              <a:t>AI 市场年成长 (CAGR)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606039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606039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27%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606039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28%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606039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8B5CF6"/>
                </a:solidFill>
                <a:latin typeface="Space Grotesk"/>
                <a:ea typeface="Microsoft YaHei"/>
              </a:rPr>
              <a:t>30%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145535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3346703"/>
            <a:ext cx="100584" cy="100584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3145535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Microsoft YaHei"/>
                <a:ea typeface="Microsoft YaHei"/>
              </a:rPr>
              <a:t>企业员工减少 (预测)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145535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5–10%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145535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10–15%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145535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15–20%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3145535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EC4899"/>
                </a:solidFill>
                <a:latin typeface="Space Grotesk"/>
                <a:ea typeface="Microsoft YaHei"/>
              </a:rPr>
              <a:t>20–30%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685031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" y="3886199"/>
            <a:ext cx="100584" cy="100584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3685031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Microsoft YaHei"/>
                <a:ea typeface="Microsoft YaHei"/>
              </a:rPr>
              <a:t>AI 可自动化岗位比例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685031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685031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25%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3685031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30%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3685031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FB7185"/>
                </a:solidFill>
                <a:latin typeface="Space Grotesk"/>
                <a:ea typeface="Microsoft YaHei"/>
              </a:rPr>
              <a:t>35%+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224527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77240" y="4425695"/>
            <a:ext cx="100584" cy="100584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" y="4224527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Microsoft YaHei"/>
                <a:ea typeface="Microsoft YaHei"/>
              </a:rPr>
              <a:t>创作者经济规模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224527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$400B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224527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$440B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224527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$470B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6920" y="4224527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F472B6"/>
                </a:solidFill>
                <a:latin typeface="Space Grotesk"/>
                <a:ea typeface="Microsoft YaHei"/>
              </a:rPr>
              <a:t>$500B+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764023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77240" y="4965191"/>
            <a:ext cx="100584" cy="100584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4764023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Microsoft YaHei"/>
                <a:ea typeface="Microsoft YaHei"/>
              </a:rPr>
              <a:t>AI 技能需求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476402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476402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很高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476402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标配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476402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A855F7"/>
                </a:solidFill>
                <a:latin typeface="Space Grotesk"/>
                <a:ea typeface="Microsoft YaHei"/>
              </a:rPr>
              <a:t>必备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349240"/>
            <a:ext cx="11091672" cy="658368"/>
          </a:xfrm>
          <a:prstGeom prst="roundRect">
            <a:avLst>
              <a:gd name="adj" fmla="val 16000"/>
            </a:avLst>
          </a:prstGeom>
          <a:solidFill>
            <a:srgbClr val="1B1232"/>
          </a:solidFill>
          <a:ln w="16510">
            <a:solidFill>
              <a:srgbClr val="8B5CF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5349240"/>
            <a:ext cx="10515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>
                <a:solidFill>
                  <a:srgbClr val="22D3EE"/>
                </a:solidFill>
                <a:latin typeface="Microsoft YaHei"/>
                <a:ea typeface="Microsoft YaHei"/>
              </a:rPr>
              <a:t>专业人士转型自媒体（Creator Economy）：</a:t>
            </a:r>
            <a:r>
              <a:rPr sz="1150" b="0">
                <a:solidFill>
                  <a:srgbClr val="F4EFFC"/>
                </a:solidFill>
                <a:latin typeface="Microsoft YaHei"/>
                <a:ea typeface="Microsoft YaHei"/>
              </a:rPr>
              <a:t>医生 · 律师 · 会计 · 老师 · 地产 · 保险 纷纷经营个人 IP —— 正是 OneIP 的用户。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6071616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>
                <a:solidFill>
                  <a:srgbClr val="7A6F96"/>
                </a:solidFill>
                <a:latin typeface="Microsoft YaHei"/>
                <a:ea typeface="Microsoft YaHei"/>
              </a:rPr>
              <a:t>来源：IDC / Stanford AI Index / Goldman Sachs / WEF / McKinsey（2024–2026）；「企业员工减少」为综合机构预测区间，非官方统计。</a:t>
            </a:r>
          </a:p>
        </p:txBody>
      </p:sp>
      <p:pic>
        <p:nvPicPr>
          <p:cNvPr id="56" name="Picture 5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精简故事版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03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THE INSIGHT · 不可被取代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8696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>
                <a:solidFill>
                  <a:srgbClr val="F4EFFC"/>
                </a:solidFill>
                <a:latin typeface="Microsoft YaHei"/>
                <a:ea typeface="Microsoft YaHei"/>
              </a:rPr>
              <a:t>唯独「人」和「粉丝」，AI 无法取代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5943600" cy="1783080"/>
          </a:xfrm>
          <a:prstGeom prst="roundRect">
            <a:avLst>
              <a:gd name="adj" fmla="val 8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167127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279400" dist="0" dir="5400000" rotWithShape="0">
              <a:srgbClr val="8B5CF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3055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F4EFFC"/>
                </a:solidFill>
                <a:latin typeface="Microsoft YaHei"/>
                <a:ea typeface="Microsoft YaHei"/>
              </a:rPr>
              <a:t>个人 IP / 自媒体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5440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A99FC0"/>
                </a:solidFill>
                <a:latin typeface="Microsoft YaHei"/>
                <a:ea typeface="Microsoft YaHei"/>
              </a:rPr>
              <a:t>AI 只能辅助，无法成为「那个人」。个性、故事、信任——天然独一无二。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840479"/>
            <a:ext cx="5943600" cy="1783080"/>
          </a:xfrm>
          <a:prstGeom prst="roundRect">
            <a:avLst>
              <a:gd name="adj" fmla="val 8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4133087"/>
            <a:ext cx="201168" cy="201168"/>
          </a:xfrm>
          <a:prstGeom prst="ellipse">
            <a:avLst/>
          </a:prstGeom>
          <a:solidFill>
            <a:srgbClr val="EC4899"/>
          </a:solidFill>
          <a:ln>
            <a:noFill/>
          </a:ln>
          <a:effectLst>
            <a:outerShdw blurRad="279400" dist="0" dir="5400000" rotWithShape="0">
              <a:srgbClr val="EC4899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4096511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F4EFFC"/>
                </a:solidFill>
                <a:latin typeface="Microsoft YaHei"/>
                <a:ea typeface="Microsoft YaHei"/>
              </a:rPr>
              <a:t>粉丝数据 / 粉丝情绪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709159"/>
            <a:ext cx="5440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A99FC0"/>
                </a:solidFill>
                <a:latin typeface="Microsoft YaHei"/>
                <a:ea typeface="Microsoft YaHei"/>
              </a:rPr>
              <a:t>真实的关注与情感无法被生成。AI 是放大器，不是替代品。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874519"/>
            <a:ext cx="4617720" cy="3703320"/>
          </a:xfrm>
          <a:prstGeom prst="roundRect">
            <a:avLst>
              <a:gd name="adj" fmla="val 8000"/>
            </a:avLst>
          </a:prstGeom>
          <a:solidFill>
            <a:srgbClr val="1B1232"/>
          </a:solidFill>
          <a:ln w="15240">
            <a:solidFill>
              <a:srgbClr val="8B5CF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22860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22D3EE"/>
                </a:solidFill>
                <a:latin typeface="Microsoft YaHei"/>
                <a:ea typeface="Microsoft YaHei"/>
              </a:rPr>
              <a:t>专业人士转型自媒体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697480"/>
            <a:ext cx="3977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A99FC0"/>
                </a:solidFill>
                <a:latin typeface="Microsoft YaHei"/>
                <a:ea typeface="Microsoft YaHei"/>
              </a:rPr>
              <a:t>医生 · 律师 · 会计 · 老师 · 地产 · 保险，都在建立自己的个人品牌。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79476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472B6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114800"/>
            <a:ext cx="39776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800" b="1">
                <a:solidFill>
                  <a:srgbClr val="F4EFFC"/>
                </a:solidFill>
                <a:latin typeface="Microsoft YaHei"/>
                <a:ea typeface="Microsoft YaHei"/>
              </a:rPr>
              <a:t>个人品牌需求，指数级爆发。</a:t>
            </a:r>
          </a:p>
        </p:txBody>
      </p:sp>
      <p:pic>
        <p:nvPicPr>
          <p:cNvPr id="18" name="Picture 17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5029200"/>
            <a:ext cx="658368" cy="6583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82712" y="5029200"/>
            <a:ext cx="3657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22D3EE"/>
                </a:solidFill>
                <a:latin typeface="Space Grotesk"/>
                <a:ea typeface="Microsoft YaHei"/>
              </a:rPr>
              <a:t>n</a:t>
            </a:r>
            <a:r>
              <a:rPr sz="3000" b="1">
                <a:solidFill>
                  <a:srgbClr val="22D3EE"/>
                </a:solidFill>
                <a:latin typeface="Space Grotesk"/>
                <a:ea typeface="Microsoft YaHei"/>
              </a:rPr>
              <a:t>e</a:t>
            </a:r>
            <a:r>
              <a:rPr sz="3000" b="1">
                <a:solidFill>
                  <a:srgbClr val="8B5CF6"/>
                </a:solidFill>
                <a:latin typeface="Space Grotesk"/>
                <a:ea typeface="Microsoft YaHei"/>
              </a:rPr>
              <a:t>I</a:t>
            </a:r>
            <a:r>
              <a:rPr sz="3000" b="1">
                <a:solidFill>
                  <a:srgbClr val="EC4899"/>
                </a:solidFill>
                <a:latin typeface="Space Grotesk"/>
                <a:ea typeface="Microsoft YaHei"/>
              </a:rPr>
              <a:t>P</a:t>
            </a:r>
            <a:r>
              <a:rPr sz="3000" b="1">
                <a:solidFill>
                  <a:srgbClr val="EC4899"/>
                </a:solidFill>
                <a:latin typeface="Space Grotesk"/>
                <a:ea typeface="Microsoft YaHei"/>
              </a:rPr>
              <a:t>.</a:t>
            </a:r>
            <a:r>
              <a:rPr sz="3000" b="1">
                <a:solidFill>
                  <a:srgbClr val="F472B6"/>
                </a:solidFill>
                <a:latin typeface="Space Grotesk"/>
                <a:ea typeface="Microsoft YaHei"/>
              </a:rPr>
              <a:t>i</a:t>
            </a:r>
            <a:r>
              <a:rPr sz="3000" b="1">
                <a:solidFill>
                  <a:srgbClr val="FB7185"/>
                </a:solidFill>
                <a:latin typeface="Space Grotesk"/>
                <a:ea typeface="Microsoft YaHei"/>
              </a:rPr>
              <a:t>o</a:t>
            </a:r>
          </a:p>
        </p:txBody>
      </p:sp>
      <p:pic>
        <p:nvPicPr>
          <p:cNvPr id="20" name="Picture 19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精简故事版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04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THE ANSWER · OneIP = OPC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4EFFC"/>
                </a:solidFill>
                <a:latin typeface="Microsoft YaHei"/>
                <a:ea typeface="Microsoft YaHei"/>
              </a:rPr>
              <a:t>OneIP：让每个人，成为一家公司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99FC0"/>
                </a:solidFill>
                <a:latin typeface="Microsoft YaHei"/>
                <a:ea typeface="Microsoft YaHei"/>
              </a:rPr>
              <a:t>一个平台，把个人品牌变成可发行、可交易、可变现的资产——OPC，一人即一家公司。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5138928" cy="3566160"/>
          </a:xfrm>
          <a:prstGeom prst="roundRect">
            <a:avLst>
              <a:gd name="adj" fmla="val 7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22D3EE"/>
                </a:solidFill>
                <a:latin typeface="Space Grotesk"/>
                <a:ea typeface="Microsoft YaHei"/>
              </a:rPr>
              <a:t>oneIP.ai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9260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Microsoft YaHei"/>
                <a:ea typeface="Microsoft YaHei"/>
              </a:rPr>
              <a:t>造 IP · 供给端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584448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48386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>
                <a:solidFill>
                  <a:srgbClr val="A99FC0"/>
                </a:solidFill>
                <a:latin typeface="Microsoft YaHei"/>
                <a:ea typeface="Microsoft YaHei"/>
              </a:rPr>
              <a:t>AI 数字分身 · 内容批量生产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133088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3250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>
                <a:solidFill>
                  <a:srgbClr val="A99FC0"/>
                </a:solidFill>
                <a:latin typeface="Microsoft YaHei"/>
                <a:ea typeface="Microsoft YaHei"/>
              </a:rPr>
              <a:t>标准化 IP 资产包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681728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58114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>
                <a:solidFill>
                  <a:srgbClr val="A99FC0"/>
                </a:solidFill>
                <a:latin typeface="Microsoft YaHei"/>
                <a:ea typeface="Microsoft YaHei"/>
              </a:rPr>
              <a:t>持续供给，越用越强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2057400"/>
            <a:ext cx="5138928" cy="3566160"/>
          </a:xfrm>
          <a:prstGeom prst="roundRect">
            <a:avLst>
              <a:gd name="adj" fmla="val 7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472B6"/>
                </a:solidFill>
                <a:latin typeface="Space Grotesk"/>
                <a:ea typeface="Microsoft YaHei"/>
              </a:rPr>
              <a:t>oneIP.io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9260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Microsoft YaHei"/>
                <a:ea typeface="Microsoft YaHei"/>
              </a:rPr>
              <a:t>卖 IP · 流通端</a:t>
            </a:r>
          </a:p>
        </p:txBody>
      </p:sp>
      <p:sp>
        <p:nvSpPr>
          <p:cNvPr id="18" name="Oval 17"/>
          <p:cNvSpPr/>
          <p:nvPr/>
        </p:nvSpPr>
        <p:spPr>
          <a:xfrm>
            <a:off x="6528816" y="3584448"/>
            <a:ext cx="128016" cy="128016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348386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>
                <a:solidFill>
                  <a:srgbClr val="A99FC0"/>
                </a:solidFill>
                <a:latin typeface="Microsoft YaHei"/>
                <a:ea typeface="Microsoft YaHei"/>
              </a:rPr>
              <a:t>一键发币 · 交易终端</a:t>
            </a:r>
          </a:p>
        </p:txBody>
      </p:sp>
      <p:sp>
        <p:nvSpPr>
          <p:cNvPr id="20" name="Oval 19"/>
          <p:cNvSpPr/>
          <p:nvPr/>
        </p:nvSpPr>
        <p:spPr>
          <a:xfrm>
            <a:off x="6528816" y="4133088"/>
            <a:ext cx="128016" cy="128016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403250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>
                <a:solidFill>
                  <a:srgbClr val="A99FC0"/>
                </a:solidFill>
                <a:latin typeface="Microsoft YaHei"/>
                <a:ea typeface="Microsoft YaHei"/>
              </a:rPr>
              <a:t>链接粉丝 · 价值共创</a:t>
            </a:r>
          </a:p>
        </p:txBody>
      </p:sp>
      <p:sp>
        <p:nvSpPr>
          <p:cNvPr id="22" name="Oval 21"/>
          <p:cNvSpPr/>
          <p:nvPr/>
        </p:nvSpPr>
        <p:spPr>
          <a:xfrm>
            <a:off x="6528816" y="4681728"/>
            <a:ext cx="128016" cy="128016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458114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>
                <a:solidFill>
                  <a:srgbClr val="A99FC0"/>
                </a:solidFill>
                <a:latin typeface="Microsoft YaHei"/>
                <a:ea typeface="Microsoft YaHei"/>
              </a:rPr>
              <a:t>手续费 + 流动性变现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7296" y="3657600"/>
            <a:ext cx="603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>
                <a:solidFill>
                  <a:srgbClr val="8B5CF6"/>
                </a:solidFill>
                <a:latin typeface="Space Grotesk"/>
                <a:ea typeface="Microsoft YaHei"/>
              </a:rPr>
              <a:t>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806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22D3EE"/>
                </a:solidFill>
                <a:latin typeface="Microsoft YaHei"/>
                <a:ea typeface="Microsoft YaHei"/>
              </a:rPr>
              <a:t>造 IP × 卖 IP ＝ 有真实资产支撑的 IP 经济闭环。</a:t>
            </a:r>
          </a:p>
        </p:txBody>
      </p:sp>
      <p:pic>
        <p:nvPicPr>
          <p:cNvPr id="26" name="Picture 2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精简故事版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05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MARKET · 市场规模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4EFFC"/>
                </a:solidFill>
                <a:latin typeface="Microsoft YaHei"/>
                <a:ea typeface="Microsoft YaHei"/>
              </a:rPr>
              <a:t>万亿级 IP 经济，正在向链上迁移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99FC0"/>
                </a:solidFill>
                <a:latin typeface="Microsoft YaHei"/>
                <a:ea typeface="Microsoft YaHei"/>
              </a:rPr>
              <a:t>创作者经济高速增长，而「粉丝情绪可定价、可交易」是尚未被满足的最大缺口。</a:t>
            </a:r>
          </a:p>
        </p:txBody>
      </p:sp>
      <p:sp>
        <p:nvSpPr>
          <p:cNvPr id="6" name="Oval 5"/>
          <p:cNvSpPr/>
          <p:nvPr/>
        </p:nvSpPr>
        <p:spPr>
          <a:xfrm>
            <a:off x="1234439" y="2103120"/>
            <a:ext cx="4023360" cy="4023360"/>
          </a:xfrm>
          <a:prstGeom prst="ellipse">
            <a:avLst/>
          </a:prstGeom>
          <a:solidFill>
            <a:srgbClr val="1B1232"/>
          </a:solidFill>
          <a:ln w="25400">
            <a:solidFill>
              <a:srgbClr val="8B5CF6"/>
            </a:solidFill>
          </a:ln>
          <a:effectLst>
            <a:outerShdw blurRad="228600" dist="0" dir="5400000" rotWithShape="0">
              <a:srgbClr val="8B5CF6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4519" y="2743200"/>
            <a:ext cx="2743200" cy="2743200"/>
          </a:xfrm>
          <a:prstGeom prst="ellipse">
            <a:avLst/>
          </a:prstGeom>
          <a:solidFill>
            <a:srgbClr val="150E26"/>
          </a:solidFill>
          <a:ln w="25400">
            <a:solidFill>
              <a:srgbClr val="EC4899"/>
            </a:solidFill>
          </a:ln>
          <a:effectLst>
            <a:outerShdw blurRad="228600" dist="0" dir="5400000" rotWithShape="0">
              <a:srgbClr val="EC489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68879" y="3337560"/>
            <a:ext cx="1554480" cy="1554480"/>
          </a:xfrm>
          <a:prstGeom prst="ellipse">
            <a:avLst/>
          </a:prstGeom>
          <a:solidFill>
            <a:srgbClr val="1B1232"/>
          </a:solidFill>
          <a:ln w="25400">
            <a:solidFill>
              <a:srgbClr val="22D3EE"/>
            </a:solidFill>
          </a:ln>
          <a:effectLst>
            <a:outerShdw blurRad="228600" dist="0" dir="5400000" rotWithShape="0">
              <a:srgbClr val="22D3EE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79" y="23317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8B5CF6"/>
                </a:solidFill>
                <a:latin typeface="Space Grotesk"/>
                <a:ea typeface="Microsoft YaHei"/>
              </a:rPr>
              <a:t>TAM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4EFFC"/>
                </a:solidFill>
                <a:latin typeface="Space Grotesk"/>
                <a:ea typeface="Microsoft YaHei"/>
              </a:rPr>
              <a:t>$2,500 亿+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79" y="3127248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>
                <a:solidFill>
                  <a:srgbClr val="EC4899"/>
                </a:solidFill>
                <a:latin typeface="Space Grotesk"/>
                <a:ea typeface="Microsoft YaHei"/>
              </a:rPr>
              <a:t>SAM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pace Grotesk"/>
                <a:ea typeface="Microsoft YaHei"/>
              </a:rPr>
              <a:t>$500 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84048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>
                <a:solidFill>
                  <a:srgbClr val="22D3EE"/>
                </a:solidFill>
                <a:latin typeface="Space Grotesk"/>
                <a:ea typeface="Microsoft YaHei"/>
              </a:rPr>
              <a:t>SOM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pace Grotesk"/>
                <a:ea typeface="Microsoft YaHei"/>
              </a:rPr>
              <a:t>$15 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86000"/>
            <a:ext cx="5120640" cy="777240"/>
          </a:xfrm>
          <a:prstGeom prst="roundRect">
            <a:avLst>
              <a:gd name="adj" fmla="val 12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0" y="2596896"/>
            <a:ext cx="164592" cy="164592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279400" dist="0" dir="5400000" rotWithShape="0">
              <a:srgbClr val="8B5CF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2286000"/>
            <a:ext cx="43891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Microsoft YaHei"/>
                <a:ea typeface="Microsoft YaHei"/>
              </a:rPr>
              <a:t>TAM 全球创作者经济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182112"/>
            <a:ext cx="5120640" cy="777240"/>
          </a:xfrm>
          <a:prstGeom prst="roundRect">
            <a:avLst>
              <a:gd name="adj" fmla="val 12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0" y="3493008"/>
            <a:ext cx="164592" cy="164592"/>
          </a:xfrm>
          <a:prstGeom prst="ellipse">
            <a:avLst/>
          </a:prstGeom>
          <a:solidFill>
            <a:srgbClr val="EC4899"/>
          </a:solidFill>
          <a:ln>
            <a:noFill/>
          </a:ln>
          <a:effectLst>
            <a:outerShdw blurRad="279400" dist="0" dir="5400000" rotWithShape="0">
              <a:srgbClr val="EC4899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7728" y="3182112"/>
            <a:ext cx="43891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Microsoft YaHei"/>
                <a:ea typeface="Microsoft YaHei"/>
              </a:rPr>
              <a:t>SAM 可发币的 IP 市场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078224"/>
            <a:ext cx="5120640" cy="777240"/>
          </a:xfrm>
          <a:prstGeom prst="roundRect">
            <a:avLst>
              <a:gd name="adj" fmla="val 12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75120" y="4389120"/>
            <a:ext cx="164592" cy="164592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279400" dist="0" dir="5400000" rotWithShape="0">
              <a:srgbClr val="22D3EE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4078224"/>
            <a:ext cx="43891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Microsoft YaHei"/>
                <a:ea typeface="Microsoft YaHei"/>
              </a:rPr>
              <a:t>SOM 3 年可获取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07492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1">
                <a:solidFill>
                  <a:srgbClr val="22D3EE"/>
                </a:solidFill>
                <a:latin typeface="Microsoft YaHei"/>
                <a:ea typeface="Microsoft YaHei"/>
              </a:rPr>
              <a:t>增长驱动：</a:t>
            </a:r>
            <a:r>
              <a:rPr sz="1150" b="0">
                <a:solidFill>
                  <a:srgbClr val="F4EFFC"/>
                </a:solidFill>
                <a:latin typeface="Microsoft YaHei"/>
                <a:ea typeface="Microsoft YaHei"/>
              </a:rPr>
              <a:t>创作者经济年增 ~20% · 粉丝代币需求爆发 · 海量 KOL 供给 · 粉丝愿为归属感付费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8521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* 市场数字为公开资料估算。</a:t>
            </a:r>
          </a:p>
        </p:txBody>
      </p:sp>
      <p:pic>
        <p:nvPicPr>
          <p:cNvPr id="23" name="Picture 22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精简故事版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06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THE FLYWHEEL · 自增长飞轮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8696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4EFFC"/>
                </a:solidFill>
                <a:latin typeface="Microsoft YaHei"/>
                <a:ea typeface="Microsoft YaHei"/>
              </a:rPr>
              <a:t>AI 供给 × 链上流通 = 自增长飞轮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A99FC0"/>
                </a:solidFill>
                <a:latin typeface="Microsoft YaHei"/>
                <a:ea typeface="Microsoft YaHei"/>
              </a:rPr>
              <a:t>别人只做发币（投机、易归零）；我们用 AI 保证真实供给，用链上提供流动性与变现。</a:t>
            </a:r>
          </a:p>
        </p:txBody>
      </p:sp>
      <p:sp>
        <p:nvSpPr>
          <p:cNvPr id="6" name="Oval 5"/>
          <p:cNvSpPr/>
          <p:nvPr/>
        </p:nvSpPr>
        <p:spPr>
          <a:xfrm>
            <a:off x="5135270" y="3108960"/>
            <a:ext cx="1920240" cy="1920240"/>
          </a:xfrm>
          <a:prstGeom prst="ellipse">
            <a:avLst/>
          </a:prstGeom>
          <a:gradFill rotWithShape="1">
            <a:gsLst>
              <a:gs pos="0">
                <a:srgbClr val="22D3EE"/>
              </a:gs>
              <a:gs pos="45000">
                <a:srgbClr val="8B5CF6"/>
              </a:gs>
              <a:gs pos="100000">
                <a:srgbClr val="EC4899"/>
              </a:gs>
            </a:gsLst>
            <a:lin ang="3600000" scaled="1"/>
          </a:gradFill>
          <a:ln>
            <a:noFill/>
          </a:ln>
          <a:effectLst>
            <a:outerShdw blurRad="330200" dist="0" dir="5400000" rotWithShape="0">
              <a:srgbClr val="8B5CF6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35270" y="3502152"/>
            <a:ext cx="19202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100" b="1">
                <a:solidFill>
                  <a:srgbClr val="FFFFFF"/>
                </a:solidFill>
                <a:latin typeface="Space Grotesk"/>
                <a:ea typeface="Microsoft YaHei"/>
              </a:rPr>
              <a:t>OneIP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飞轮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78470" y="3634740"/>
            <a:ext cx="3200400" cy="868680"/>
          </a:xfrm>
          <a:prstGeom prst="roundRect">
            <a:avLst>
              <a:gd name="adj" fmla="val 20000"/>
            </a:avLst>
          </a:prstGeom>
          <a:solidFill>
            <a:srgbClr val="1B1232"/>
          </a:solidFill>
          <a:ln w="16510">
            <a:solidFill>
              <a:srgbClr val="22D3EE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1350" y="363474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Microsoft YaHei"/>
                <a:ea typeface="Microsoft YaHei"/>
              </a:rPr>
              <a:t>AI 持续生产 IP 资产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5190" y="5234940"/>
            <a:ext cx="3200400" cy="868680"/>
          </a:xfrm>
          <a:prstGeom prst="roundRect">
            <a:avLst>
              <a:gd name="adj" fmla="val 20000"/>
            </a:avLst>
          </a:prstGeom>
          <a:solidFill>
            <a:srgbClr val="1B1232"/>
          </a:solidFill>
          <a:ln w="16510">
            <a:solidFill>
              <a:srgbClr val="F472B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8070" y="523494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Microsoft YaHei"/>
                <a:ea typeface="Microsoft YaHei"/>
              </a:rPr>
              <a:t>链上发行 · 提供流动性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1910" y="3634740"/>
            <a:ext cx="3200400" cy="868680"/>
          </a:xfrm>
          <a:prstGeom prst="roundRect">
            <a:avLst>
              <a:gd name="adj" fmla="val 20000"/>
            </a:avLst>
          </a:prstGeom>
          <a:solidFill>
            <a:srgbClr val="1B1232"/>
          </a:solidFill>
          <a:ln w="16510">
            <a:solidFill>
              <a:srgbClr val="EC4899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4790" y="363474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Microsoft YaHei"/>
                <a:ea typeface="Microsoft YaHei"/>
              </a:rPr>
              <a:t>交易变现 · 反哺创作者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5190" y="2034540"/>
            <a:ext cx="3200400" cy="868680"/>
          </a:xfrm>
          <a:prstGeom prst="roundRect">
            <a:avLst>
              <a:gd name="adj" fmla="val 20000"/>
            </a:avLst>
          </a:prstGeom>
          <a:solidFill>
            <a:srgbClr val="1B1232"/>
          </a:solidFill>
          <a:ln w="16510">
            <a:solidFill>
              <a:srgbClr val="8B5CF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8070" y="203454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Microsoft YaHei"/>
                <a:ea typeface="Microsoft YaHei"/>
              </a:rPr>
              <a:t>更多 IP / 品牌入驻</a:t>
            </a:r>
          </a:p>
        </p:txBody>
      </p:sp>
      <p:pic>
        <p:nvPicPr>
          <p:cNvPr id="16" name="Picture 1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精简故事版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07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THE FUTURE · Web4 增长愿景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F4EFFC"/>
                </a:solidFill>
                <a:latin typeface="Microsoft YaHei"/>
                <a:ea typeface="Microsoft YaHei"/>
              </a:rPr>
              <a:t>Web4 时代：粉丝即资产，聚合亿级 IP 经济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99FC0"/>
                </a:solidFill>
                <a:latin typeface="Microsoft YaHei"/>
                <a:ea typeface="Microsoft YaHei"/>
              </a:rPr>
              <a:t>当平台聚合足够多的品牌、网红与粉丝数据，规模效应将驱动收入指数级增长。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21408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Microsoft YaHei"/>
                <a:ea typeface="Microsoft YaHei"/>
              </a:rPr>
              <a:t>入驻品牌 &amp; 供应商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8B5CF6"/>
                </a:solidFill>
                <a:latin typeface="Space Grotesk"/>
                <a:ea typeface="Microsoft YaHei"/>
              </a:rPr>
              <a:t>30,000+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1752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2028E 规模假设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192024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121408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Microsoft YaHei"/>
                <a:ea typeface="Microsoft YaHei"/>
              </a:rPr>
              <a:t>网红 / 创作者 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48716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EC4899"/>
                </a:solidFill>
                <a:latin typeface="Space Grotesk"/>
                <a:ea typeface="Microsoft YaHei"/>
              </a:rPr>
              <a:t>200,000+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01752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2028E 规模假设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192024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121408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Microsoft YaHei"/>
                <a:ea typeface="Microsoft YaHei"/>
              </a:rPr>
              <a:t>覆盖粉丝数据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48716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F472B6"/>
                </a:solidFill>
                <a:latin typeface="Space Grotesk"/>
                <a:ea typeface="Microsoft YaHei"/>
              </a:rPr>
              <a:t>3 亿+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301752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2028E 规模假设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5128" y="192024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59" y="2121408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Microsoft YaHei"/>
                <a:ea typeface="Microsoft YaHei"/>
              </a:rPr>
              <a:t>年交易额 GMV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48716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22D3EE"/>
                </a:solidFill>
                <a:latin typeface="Space Grotesk"/>
                <a:ea typeface="Microsoft YaHei"/>
              </a:rPr>
              <a:t>$30 亿+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301752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2028E 规模假设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40080" y="3703320"/>
          <a:ext cx="6309360" cy="2423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7269480" y="3611880"/>
            <a:ext cx="4251960" cy="2606040"/>
          </a:xfrm>
          <a:prstGeom prst="roundRect">
            <a:avLst>
              <a:gd name="adj" fmla="val 9000"/>
            </a:avLst>
          </a:prstGeom>
          <a:solidFill>
            <a:srgbClr val="1B1232"/>
          </a:solidFill>
          <a:ln w="17780">
            <a:solidFill>
              <a:srgbClr val="8B5CF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3712463"/>
            <a:ext cx="3794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Microsoft YaHei"/>
                <a:ea typeface="Microsoft YaHei"/>
              </a:rPr>
              <a:t>2028E 平台年收入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950208"/>
            <a:ext cx="3794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22D3EE"/>
                </a:solidFill>
                <a:latin typeface="Space Grotesk"/>
                <a:ea typeface="Microsoft YaHei"/>
              </a:rPr>
              <a:t>$1.5 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517136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7A6F96"/>
                </a:solidFill>
                <a:latin typeface="Microsoft YaHei"/>
                <a:ea typeface="Microsoft YaHei"/>
              </a:rPr>
              <a:t>估值 = 年收入 × PE 40 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846320"/>
            <a:ext cx="3794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Microsoft YaHei"/>
                <a:ea typeface="Microsoft YaHei"/>
              </a:rPr>
              <a:t>2028E 预测公司市值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5065776"/>
            <a:ext cx="3794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700" b="1">
                <a:solidFill>
                  <a:srgbClr val="F472B6"/>
                </a:solidFill>
                <a:latin typeface="Space Grotesk"/>
                <a:ea typeface="Microsoft YaHei"/>
              </a:rPr>
              <a:t>$60 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5815584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>
                <a:solidFill>
                  <a:srgbClr val="7A6F96"/>
                </a:solidFill>
                <a:latin typeface="Microsoft YaHei"/>
                <a:ea typeface="Microsoft YaHei"/>
              </a:rPr>
              <a:t>* 按 40× PE 测算，规模化情景下的愿景假设，非业绩承诺。</a:t>
            </a:r>
          </a:p>
        </p:txBody>
      </p:sp>
      <p:pic>
        <p:nvPicPr>
          <p:cNvPr id="30" name="Picture 29" descr="logo_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精简故事版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08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40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THE ASK · 融资 &amp; 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F4EFFC"/>
                </a:solidFill>
                <a:latin typeface="Microsoft YaHei"/>
                <a:ea typeface="Microsoft YaHei"/>
              </a:rPr>
              <a:t>融资 200 万美金 · 让出 20% 原始股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99FC0"/>
                </a:solidFill>
                <a:latin typeface="Microsoft YaHei"/>
                <a:ea typeface="Microsoft YaHei"/>
              </a:rPr>
              <a:t>投后估值 1,000 万美金 · 18 个月跑通双引擎闭环。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606040"/>
            <a:ext cx="7863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4EFFC"/>
                </a:solidFill>
                <a:latin typeface="Microsoft YaHei"/>
                <a:ea typeface="Microsoft YaHei"/>
              </a:rPr>
              <a:t>让每一个独一无二的 IP，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4EFFC"/>
                </a:solidFill>
                <a:latin typeface="Microsoft YaHei"/>
                <a:ea typeface="Microsoft YaHei"/>
              </a:rPr>
              <a:t>都拥有自己的链上经济。</a:t>
            </a:r>
          </a:p>
        </p:txBody>
      </p:sp>
      <p:pic>
        <p:nvPicPr>
          <p:cNvPr id="7" name="Picture 6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343400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82496" y="4343400"/>
            <a:ext cx="6858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1">
                <a:solidFill>
                  <a:srgbClr val="22D3EE"/>
                </a:solidFill>
                <a:latin typeface="Space Grotesk"/>
                <a:ea typeface="Microsoft YaHei"/>
              </a:rPr>
              <a:t>n</a:t>
            </a:r>
            <a:r>
              <a:rPr sz="4400" b="1">
                <a:solidFill>
                  <a:srgbClr val="22D3EE"/>
                </a:solidFill>
                <a:latin typeface="Space Grotesk"/>
                <a:ea typeface="Microsoft YaHei"/>
              </a:rPr>
              <a:t>e</a:t>
            </a:r>
            <a:r>
              <a:rPr sz="4400" b="1">
                <a:solidFill>
                  <a:srgbClr val="8B5CF6"/>
                </a:solidFill>
                <a:latin typeface="Space Grotesk"/>
                <a:ea typeface="Microsoft YaHei"/>
              </a:rPr>
              <a:t>I</a:t>
            </a:r>
            <a:r>
              <a:rPr sz="4400" b="1">
                <a:solidFill>
                  <a:srgbClr val="EC4899"/>
                </a:solidFill>
                <a:latin typeface="Space Grotesk"/>
                <a:ea typeface="Microsoft YaHei"/>
              </a:rPr>
              <a:t>P</a:t>
            </a:r>
            <a:r>
              <a:rPr sz="4400" b="1">
                <a:solidFill>
                  <a:srgbClr val="EC4899"/>
                </a:solidFill>
                <a:latin typeface="Space Grotesk"/>
                <a:ea typeface="Microsoft YaHei"/>
              </a:rPr>
              <a:t>.</a:t>
            </a:r>
            <a:r>
              <a:rPr sz="4400" b="1">
                <a:solidFill>
                  <a:srgbClr val="F472B6"/>
                </a:solidFill>
                <a:latin typeface="Space Grotesk"/>
                <a:ea typeface="Microsoft YaHei"/>
              </a:rPr>
              <a:t>i</a:t>
            </a:r>
            <a:r>
              <a:rPr sz="4400" b="1">
                <a:solidFill>
                  <a:srgbClr val="FB7185"/>
                </a:solidFill>
                <a:latin typeface="Space Grotesk"/>
                <a:ea typeface="Microsoft YaHei"/>
              </a:rPr>
              <a:t>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2D3EE"/>
                </a:solidFill>
                <a:latin typeface="Space Grotesk"/>
                <a:ea typeface="Microsoft YaHei"/>
              </a:rPr>
              <a:t>OneIP + OPC</a:t>
            </a:r>
            <a:r>
              <a:rPr sz="1500" b="1">
                <a:solidFill>
                  <a:srgbClr val="F472B6"/>
                </a:solidFill>
                <a:latin typeface="Microsoft YaHei"/>
                <a:ea typeface="Microsoft YaHei"/>
              </a:rPr>
              <a:t>　·　独一无二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472B6"/>
                </a:solidFill>
                <a:latin typeface="Space Grotesk"/>
                <a:ea typeface="Microsoft YaHei"/>
              </a:rPr>
              <a:t>oneIP.io</a:t>
            </a:r>
            <a:r>
              <a:rPr sz="1400" b="0">
                <a:solidFill>
                  <a:srgbClr val="7A6F96"/>
                </a:solidFill>
                <a:latin typeface="Space Grotesk"/>
                <a:ea typeface="Microsoft YaHei"/>
              </a:rPr>
              <a:t>　/　</a:t>
            </a:r>
            <a:r>
              <a:rPr sz="1400" b="1">
                <a:solidFill>
                  <a:srgbClr val="22D3EE"/>
                </a:solidFill>
                <a:latin typeface="Space Grotesk"/>
                <a:ea typeface="Microsoft YaHei"/>
              </a:rPr>
              <a:t>oneIP.ai</a:t>
            </a:r>
            <a:r>
              <a:rPr sz="1300" b="0">
                <a:solidFill>
                  <a:srgbClr val="A99FC0"/>
                </a:solidFill>
                <a:latin typeface="Space Grotesk"/>
                <a:ea typeface="Microsoft YaHei"/>
              </a:rPr>
              <a:t>　　bossses001@gmail.com</a:t>
            </a:r>
          </a:p>
        </p:txBody>
      </p:sp>
      <p:pic>
        <p:nvPicPr>
          <p:cNvPr id="11" name="Picture 10" descr="on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737360"/>
            <a:ext cx="3200400" cy="3867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
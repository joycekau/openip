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A99FC0"/>
                </a:solidFill>
                <a:latin typeface="Segoe UI"/>
              </a:rPr>
              <a:t>Revenue Growth (illustrative)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(US$ M)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Sheet1!$A$2:$A$4</c:f>
              <c:strCache>
                <c:ptCount val="3"/>
                <c:pt idx="0">
                  <c:v>Y1</c:v>
                </c:pt>
                <c:pt idx="1">
                  <c:v>Y2</c:v>
                </c:pt>
                <c:pt idx="2">
                  <c:v>Y3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4.8</c:v>
                </c:pt>
                <c:pt idx="2">
                  <c:v>15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sz="1200" b="1">
                  <a:solidFill>
                    <a:srgbClr val="F4EFFC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214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A99FC0"/>
                </a:solidFill>
                <a:latin typeface="Segoe UI"/>
              </a:rPr>
              <a:t>Annual Revenue (scale scenario)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revenue (US$ M)</c:v>
                </c:pt>
              </c:strCache>
            </c:strRef>
          </c:tx>
          <c:dPt>
            <c:idx val="0"/>
            <c:spPr>
              <a:solidFill>
                <a:srgbClr val="8B5CF6"/>
              </a:solidFill>
            </c:spPr>
          </c:dPt>
          <c:dPt>
            <c:idx val="1"/>
            <c:spPr>
              <a:solidFill>
                <a:srgbClr val="EC4899"/>
              </a:solidFill>
            </c:spPr>
          </c:dPt>
          <c:dPt>
            <c:idx val="2"/>
            <c:spPr>
              <a:solidFill>
                <a:srgbClr val="22D3EE"/>
              </a:solidFill>
            </c:spPr>
          </c:dPt>
          <c:cat>
            <c:strRef>
              <c:f>Sheet1!$A$2:$A$4</c:f>
              <c:strCache>
                <c:ptCount val="3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25</c:v>
                </c:pt>
                <c:pt idx="2">
                  <c:v>150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sz="1200" b="1">
                  <a:solidFill>
                    <a:srgbClr val="F4EFFC"/>
                  </a:solidFill>
                  <a:latin typeface="Space Grotesk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214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A99FC0"/>
                </a:solidFill>
                <a:latin typeface="Space Grotesk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dPt>
            <c:idx val="0"/>
            <c:spPr>
              <a:solidFill>
                <a:srgbClr val="8B5CF6"/>
              </a:solidFill>
              <a:ln w="31750">
                <a:solidFill>
                  <a:srgbClr val="080510"/>
                </a:solidFill>
              </a:ln>
            </c:spPr>
          </c:dPt>
          <c:dPt>
            <c:idx val="1"/>
            <c:spPr>
              <a:solidFill>
                <a:srgbClr val="22D3EE"/>
              </a:solidFill>
              <a:ln w="31750">
                <a:solidFill>
                  <a:srgbClr val="080510"/>
                </a:solidFill>
              </a:ln>
            </c:spPr>
          </c:dPt>
          <c:dPt>
            <c:idx val="2"/>
            <c:spPr>
              <a:solidFill>
                <a:srgbClr val="EC4899"/>
              </a:solidFill>
              <a:ln w="31750">
                <a:solidFill>
                  <a:srgbClr val="080510"/>
                </a:solidFill>
              </a:ln>
            </c:spPr>
          </c:dPt>
          <c:dPt>
            <c:idx val="3"/>
            <c:spPr>
              <a:solidFill>
                <a:srgbClr val="FB7185"/>
              </a:solidFill>
              <a:ln w="31750">
                <a:solidFill>
                  <a:srgbClr val="080510"/>
                </a:solidFill>
              </a:ln>
            </c:spPr>
          </c:dPt>
          <c:dPt>
            <c:idx val="4"/>
            <c:spPr>
              <a:solidFill>
                <a:srgbClr val="34D399"/>
              </a:solidFill>
              <a:ln w="31750">
                <a:solidFill>
                  <a:srgbClr val="080510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Operations</c:v>
                </c:pt>
                <c:pt idx="1">
                  <c:v>Product</c:v>
                </c:pt>
                <c:pt idx="2">
                  <c:v>Marketing</c:v>
                </c:pt>
                <c:pt idx="3">
                  <c:v>KOL/brand/supplier</c:v>
                </c:pt>
                <c:pt idx="4">
                  <c:v>Reserve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30</c:v>
                </c:pt>
                <c:pt idx="3">
                  <c:v>20</c:v>
                </c:pt>
                <c:pt idx="4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  <a:latin typeface="Space Grotesk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sources (industry forecasts / current trends, 2024–2026):</a:t>
            </a:r>
          </a:p>
          <a:p>
            <a:r>
              <a:t>• Global AI economic value: IDC forecasts AI to add ~US$19.9T to the global economy by 2030; this page uses a core direct-contribution view $3.2T→$4.9T, ~25–30% CAGR.</a:t>
            </a:r>
          </a:p>
          <a:p>
            <a:r>
              <a:t>  Axios/IDC: https://www.axios.com/2024/09/17/ai-global-economy-idc-2030</a:t>
            </a:r>
          </a:p>
          <a:p>
            <a:r>
              <a:t>• Enterprise AI adoption / AI agents: Stanford AI Index (HAI). https://hai.stanford.edu/ai-index</a:t>
            </a:r>
          </a:p>
          <a:p>
            <a:r>
              <a:t>• Workforce cut / automatable jobs: McKinsey &amp; WEF estimate 20–35% of work is automatable; Goldman Sachs estimates ~300M full-time jobs affected. Blended industry-forecast range, not official data.</a:t>
            </a:r>
          </a:p>
          <a:p>
            <a:r>
              <a:t>  WEF: https://www.businessinsider.com/wef-sees-4-ai-futures-for-jobs-by-2030-only-one-limits-disruption-2026-1</a:t>
            </a:r>
          </a:p>
          <a:p>
            <a:r>
              <a:t>  Goldman/Investopedia: https://www.investopedia.com/if-you-lose-your-job-to-a-i-the-setback-might-be-permanent-11945756</a:t>
            </a:r>
          </a:p>
          <a:p>
            <a:r>
              <a:t>• Graduates / entry-level: Reuters reports Chinese firms cutting graduate hiring as AI replaces some junior roles; BI notes wide sector variation.</a:t>
            </a:r>
          </a:p>
          <a:p>
            <a:r>
              <a:t>  Reuters: https://www.reuters.com/business/world-at-work/china-inc-deploys-quiet-layoffs-beijing-promotes-ai-adoption-2026-06-10/</a:t>
            </a:r>
          </a:p>
          <a:p>
            <a:r>
              <a:t>  BI: https://www.businessinsider.com/the-ai-layoffs-story-just-got-more-complicated-2026-6</a:t>
            </a:r>
          </a:p>
          <a:p>
            <a:r>
              <a:t>• Creator economy: Goldman Sachs estimates ~US$500B by 2027; more professionals (doctors/lawyers/accountants/teachers/realtors/agents) build personal IP as AI slashes production cost.</a:t>
            </a:r>
          </a:p>
          <a:p>
            <a:r>
              <a:t>  https://en.wikipedia.org/wiki/Creator_economy</a:t>
            </a:r>
          </a:p>
          <a:p>
            <a:r>
              <a:t>Note: figures are ranges/forecasts illustrating structural direction, not performance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3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INFLUENCER IP LAUNCH &amp; SOCIAL PLATFORM · PITCH 2026</a:t>
            </a:r>
          </a:p>
        </p:txBody>
      </p:sp>
      <p:pic>
        <p:nvPicPr>
          <p:cNvPr id="4" name="Picture 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24128"/>
            <a:ext cx="1234440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29384" y="1024128"/>
            <a:ext cx="68580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6600" b="1">
                <a:solidFill>
                  <a:srgbClr val="22D3EE"/>
                </a:solidFill>
                <a:latin typeface="Space Grotesk"/>
                <a:ea typeface="Segoe UI"/>
              </a:rPr>
              <a:t>n</a:t>
            </a:r>
            <a:r>
              <a:rPr sz="6600" b="1">
                <a:solidFill>
                  <a:srgbClr val="22D3EE"/>
                </a:solidFill>
                <a:latin typeface="Space Grotesk"/>
                <a:ea typeface="Segoe UI"/>
              </a:rPr>
              <a:t>e</a:t>
            </a:r>
            <a:r>
              <a:rPr sz="6600" b="1">
                <a:solidFill>
                  <a:srgbClr val="8B5CF6"/>
                </a:solidFill>
                <a:latin typeface="Space Grotesk"/>
                <a:ea typeface="Segoe UI"/>
              </a:rPr>
              <a:t>I</a:t>
            </a:r>
            <a:r>
              <a:rPr sz="6600" b="1">
                <a:solidFill>
                  <a:srgbClr val="EC4899"/>
                </a:solidFill>
                <a:latin typeface="Space Grotesk"/>
                <a:ea typeface="Segoe UI"/>
              </a:rPr>
              <a:t>P</a:t>
            </a:r>
            <a:r>
              <a:rPr sz="6600" b="1">
                <a:solidFill>
                  <a:srgbClr val="EC4899"/>
                </a:solidFill>
                <a:latin typeface="Space Grotesk"/>
                <a:ea typeface="Segoe UI"/>
              </a:rPr>
              <a:t>.</a:t>
            </a:r>
            <a:r>
              <a:rPr sz="6600" b="1">
                <a:solidFill>
                  <a:srgbClr val="F472B6"/>
                </a:solidFill>
                <a:latin typeface="Space Grotesk"/>
                <a:ea typeface="Segoe UI"/>
              </a:rPr>
              <a:t>i</a:t>
            </a:r>
            <a:r>
              <a:rPr sz="6600" b="1">
                <a:solidFill>
                  <a:srgbClr val="FB7185"/>
                </a:solidFill>
                <a:latin typeface="Space Grotesk"/>
                <a:ea typeface="Segoe UI"/>
              </a:rPr>
              <a:t>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86000"/>
            <a:ext cx="7315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22D3EE"/>
                </a:solidFill>
                <a:latin typeface="Space Grotesk"/>
                <a:ea typeface="Segoe UI"/>
              </a:rPr>
              <a:t>OneIP</a:t>
            </a:r>
            <a:r>
              <a:rPr sz="3300" b="0">
                <a:solidFill>
                  <a:srgbClr val="7A6F96"/>
                </a:solidFill>
                <a:latin typeface="Space Grotesk"/>
                <a:ea typeface="Segoe UI"/>
              </a:rPr>
              <a:t> + </a:t>
            </a:r>
            <a:r>
              <a:rPr sz="3300" b="1">
                <a:solidFill>
                  <a:srgbClr val="F472B6"/>
                </a:solidFill>
                <a:latin typeface="Space Grotesk"/>
                <a:ea typeface="Segoe UI"/>
              </a:rPr>
              <a:t>OPC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44368"/>
            <a:ext cx="795527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pace Grotesk"/>
                <a:ea typeface="Segoe UI"/>
              </a:rPr>
              <a:t>OPC = One Personal Company</a:t>
            </a: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  ·  you are 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8138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1">
                <a:solidFill>
                  <a:srgbClr val="F472B6"/>
                </a:solidFill>
                <a:latin typeface="Space Grotesk"/>
                <a:ea typeface="Segoe UI"/>
              </a:rPr>
              <a:t>Launch Brand IP</a:t>
            </a:r>
            <a:r>
              <a:rPr sz="1800" b="0">
                <a:solidFill>
                  <a:srgbClr val="7A6F96"/>
                </a:solidFill>
                <a:latin typeface="Space Grotesk"/>
                <a:ea typeface="Segoe UI"/>
              </a:rPr>
              <a:t> · </a:t>
            </a:r>
            <a:r>
              <a:rPr sz="1800" b="1">
                <a:solidFill>
                  <a:srgbClr val="22D3EE"/>
                </a:solidFill>
                <a:latin typeface="Space Grotesk"/>
                <a:ea typeface="Segoe UI"/>
              </a:rPr>
              <a:t>Connect Fans</a:t>
            </a:r>
            <a:r>
              <a:rPr sz="1800" b="0">
                <a:solidFill>
                  <a:srgbClr val="7A6F96"/>
                </a:solidFill>
                <a:latin typeface="Space Grotesk"/>
                <a:ea typeface="Segoe UI"/>
              </a:rPr>
              <a:t> · </a:t>
            </a:r>
            <a:r>
              <a:rPr sz="1800" b="1">
                <a:solidFill>
                  <a:srgbClr val="8B5CF6"/>
                </a:solidFill>
                <a:latin typeface="Space Grotesk"/>
                <a:ea typeface="Segoe UI"/>
              </a:rPr>
              <a:t>Co-create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pace Grotesk"/>
                <a:ea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8B5CF6"/>
                </a:solidFill>
                <a:latin typeface="Space Grotesk"/>
                <a:ea typeface="Segoe UI"/>
              </a:rP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Social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0288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EC4899"/>
                </a:solidFill>
                <a:latin typeface="Space Grotesk"/>
                <a:ea typeface="Segoe UI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Co-create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8816" y="4279392"/>
            <a:ext cx="1755648" cy="548640"/>
          </a:xfrm>
          <a:prstGeom prst="roundRect">
            <a:avLst>
              <a:gd name="adj" fmla="val 32000"/>
            </a:avLst>
          </a:prstGeom>
          <a:solidFill>
            <a:srgbClr val="1B1232"/>
          </a:solidFill>
          <a:ln w="1397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4279392"/>
            <a:ext cx="457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B7185"/>
                </a:solidFill>
                <a:latin typeface="Space Grotesk"/>
                <a:ea typeface="Segoe UI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4279392"/>
            <a:ext cx="1097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Rewards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44068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59612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Raise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8704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22D3EE"/>
                </a:solidFill>
                <a:latin typeface="Space Grotesk"/>
                <a:ea typeface="Segoe UI"/>
              </a:rPr>
              <a:t>US$2M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00984" y="544068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7016" y="559612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Equity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7016" y="58704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72B6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88736" y="5440680"/>
            <a:ext cx="2331720" cy="868680"/>
          </a:xfrm>
          <a:prstGeom prst="roundRect">
            <a:avLst>
              <a:gd name="adj" fmla="val 22000"/>
            </a:avLst>
          </a:prstGeom>
          <a:solidFill>
            <a:srgbClr val="1B1232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44768" y="559612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Post-money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4768" y="5870448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8B5CF6"/>
                </a:solidFill>
                <a:latin typeface="Space Grotesk"/>
                <a:ea typeface="Segoe UI"/>
              </a:rPr>
              <a:t>US$10M</a:t>
            </a:r>
          </a:p>
        </p:txBody>
      </p:sp>
      <p:pic>
        <p:nvPicPr>
          <p:cNvPr id="30" name="Picture 29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137160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MEGATREND · INDUSTRY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EFFC"/>
                </a:solidFill>
                <a:latin typeface="Segoe UI"/>
                <a:ea typeface="Segoe UI"/>
              </a:rPr>
              <a:t>The Stronger AI Gets, the More Personal IP Is Worth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0817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Segoe UI"/>
                <a:ea typeface="Segoe UI"/>
              </a:rPr>
              <a:t>Institutional forecasts (IDC · Stanford HAI · Goldman Sachs · WEF · McKinsey): the AI economy soars, jobs restructure, personal brand becomes the exit.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Metric · forecast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18105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7A6F96"/>
                </a:solidFill>
                <a:latin typeface="Space Grotesk"/>
                <a:ea typeface="Segoe UI"/>
              </a:rPr>
              <a:t>2030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06654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267712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06654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Global AI economic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$3.2T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$3.8T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$4.4T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206654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22D3EE"/>
                </a:solidFill>
                <a:latin typeface="Space Grotesk"/>
                <a:ea typeface="Segoe UI"/>
              </a:rPr>
              <a:t>$4.9T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06039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2807208"/>
            <a:ext cx="100584" cy="1005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2606039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AI market 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2606039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8B5CF6"/>
                </a:solidFill>
                <a:latin typeface="Space Grotesk"/>
                <a:ea typeface="Segoe UI"/>
              </a:rPr>
              <a:t>30%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145535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3346703"/>
            <a:ext cx="100584" cy="100584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" y="3145535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Workforce cut (forecast)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5–10%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10–15%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15–20%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145535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EC4899"/>
                </a:solidFill>
                <a:latin typeface="Space Grotesk"/>
                <a:ea typeface="Segoe UI"/>
              </a:rPr>
              <a:t>20–30%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685031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7240" y="3886199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" y="3685031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Automatable jobs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25%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685031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B7185"/>
                </a:solidFill>
                <a:latin typeface="Space Grotesk"/>
                <a:ea typeface="Segoe UI"/>
              </a:rPr>
              <a:t>35%+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224527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77240" y="4425695"/>
            <a:ext cx="100584" cy="100584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224527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Creator economy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$400B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$440B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$470B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20" y="4224527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Segoe UI"/>
              </a:rPr>
              <a:t>$500B+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764023"/>
            <a:ext cx="11091672" cy="493776"/>
          </a:xfrm>
          <a:prstGeom prst="roundRect">
            <a:avLst>
              <a:gd name="adj" fmla="val 1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77240" y="4965191"/>
            <a:ext cx="100584" cy="100584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4764023"/>
            <a:ext cx="34290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>
                <a:solidFill>
                  <a:srgbClr val="F4EFFC"/>
                </a:solidFill>
                <a:latin typeface="Segoe UI"/>
                <a:ea typeface="Segoe UI"/>
              </a:rPr>
              <a:t>AI-skill demand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High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Higher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pace Grotesk"/>
                <a:ea typeface="Segoe UI"/>
              </a:rPr>
              <a:t>Standard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4764023"/>
            <a:ext cx="16002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>
                <a:solidFill>
                  <a:srgbClr val="A855F7"/>
                </a:solidFill>
                <a:latin typeface="Space Grotesk"/>
                <a:ea typeface="Segoe UI"/>
              </a:rPr>
              <a:t>Must-have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349240"/>
            <a:ext cx="11091672" cy="658368"/>
          </a:xfrm>
          <a:prstGeom prst="roundRect">
            <a:avLst>
              <a:gd name="adj" fmla="val 16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5349240"/>
            <a:ext cx="10515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1">
                <a:solidFill>
                  <a:srgbClr val="22D3EE"/>
                </a:solidFill>
                <a:latin typeface="Segoe UI"/>
                <a:ea typeface="Segoe UI"/>
              </a:rPr>
              <a:t>Professionals pivot to the Creator Economy: </a:t>
            </a:r>
            <a:r>
              <a:rPr sz="1150" b="0">
                <a:solidFill>
                  <a:srgbClr val="F4EFFC"/>
                </a:solidFill>
                <a:latin typeface="Segoe UI"/>
                <a:ea typeface="Segoe UI"/>
              </a:rPr>
              <a:t>doctors · lawyers · accountants · teachers · realtors · agents all build personal IP — OneIP's users.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071616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850" b="0">
                <a:solidFill>
                  <a:srgbClr val="7A6F96"/>
                </a:solidFill>
                <a:latin typeface="Segoe UI"/>
                <a:ea typeface="Segoe UI"/>
              </a:rPr>
              <a:t>Sources: IDC / Stanford AI Index / Goldman Sachs / WEF / McKinsey (2024–2026). "Workforce cut" is a blended industry-forecast range, not official data.</a:t>
            </a:r>
          </a:p>
        </p:txBody>
      </p:sp>
      <p:pic>
        <p:nvPicPr>
          <p:cNvPr id="56" name="Picture 55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AI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AI Is Rewriting Every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50" b="0">
                <a:solidFill>
                  <a:srgbClr val="A99FC0"/>
                </a:solidFill>
                <a:latin typeface="Segoe UI"/>
                <a:ea typeface="Segoe UI"/>
              </a:rPr>
              <a:t>AI is evolving faster than anyone imagined. As it replaces real-world work, value migrates to what cannot be copied.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22D3EE"/>
                </a:solidFill>
                <a:latin typeface="Space Grotesk"/>
                <a:ea typeface="Segoe UI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Segoe UI"/>
                <a:ea typeface="Segoe UI"/>
              </a:rPr>
              <a:t>Beyond Expectation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Segoe UI"/>
                <a:ea typeface="Segoe UI"/>
              </a:rPr>
              <a:t>AI capability iterates monthly — faster than any industrial revolution.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8561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561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8B5CF6"/>
                </a:solidFill>
                <a:latin typeface="Space Grotesk"/>
                <a:ea typeface="Segoe UI"/>
              </a:rPr>
              <a:t>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8561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Segoe UI"/>
                <a:ea typeface="Segoe UI"/>
              </a:rPr>
              <a:t>Adopted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Segoe UI"/>
                <a:ea typeface="Segoe UI"/>
              </a:rPr>
              <a:t>Support, design, copy, coding, sales — roles taken over one by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2025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EC4899"/>
                </a:solidFill>
                <a:latin typeface="Space Grotesk"/>
                <a:ea typeface="Segoe UI"/>
              </a:rPr>
              <a:t>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Segoe UI"/>
                <a:ea typeface="Segoe UI"/>
              </a:rPr>
              <a:t>Jobs Replaced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Segoe UI"/>
                <a:ea typeface="Segoe UI"/>
              </a:rPr>
              <a:t>More people lose their jobs to AI; skill moats evaporate fast.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62288" y="2331720"/>
            <a:ext cx="2670048" cy="333756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54896" y="2642615"/>
            <a:ext cx="566928" cy="56692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2697479"/>
            <a:ext cx="56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>
                <a:solidFill>
                  <a:srgbClr val="FB7185"/>
                </a:solidFill>
                <a:latin typeface="Space Grotesk"/>
                <a:ea typeface="Segoe UI"/>
              </a:rPr>
              <a:t>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4896" y="342900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50" b="1">
                <a:solidFill>
                  <a:srgbClr val="F4EFFC"/>
                </a:solidFill>
                <a:latin typeface="Segoe UI"/>
                <a:ea typeface="Segoe UI"/>
              </a:rPr>
              <a:t>Value Migrates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3904487"/>
            <a:ext cx="2121408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0">
                <a:solidFill>
                  <a:srgbClr val="A99FC0"/>
                </a:solidFill>
                <a:latin typeface="Segoe UI"/>
                <a:ea typeface="Segoe UI"/>
              </a:rPr>
              <a:t>Copyable labor trends to zero cost; scarcity becomes the only premium.</a:t>
            </a:r>
          </a:p>
        </p:txBody>
      </p:sp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Only People &amp; Fans Can't Be Replaced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167127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13055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Segoe UI"/>
                <a:ea typeface="Segoe UI"/>
              </a:rPr>
              <a:t>Personal IP / Creators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AI can assist, but can't BE that person. Personality, story, trust — inherently unique.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40479"/>
            <a:ext cx="5943600" cy="1783080"/>
          </a:xfrm>
          <a:prstGeom prst="roundRect">
            <a:avLst>
              <a:gd name="adj" fmla="val 8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2688" y="4133087"/>
            <a:ext cx="201168" cy="201168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96511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900" b="1">
                <a:solidFill>
                  <a:srgbClr val="F4EFFC"/>
                </a:solidFill>
                <a:latin typeface="Segoe UI"/>
                <a:ea typeface="Segoe UI"/>
              </a:rPr>
              <a:t>Fan Data / Fan Emotion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709159"/>
            <a:ext cx="5440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Real attention and emotion can't be generated. AI amplifies — it doesn't replace.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874519"/>
            <a:ext cx="4617720" cy="3703320"/>
          </a:xfrm>
          <a:prstGeom prst="roundRect">
            <a:avLst>
              <a:gd name="adj" fmla="val 8000"/>
            </a:avLst>
          </a:prstGeom>
          <a:solidFill>
            <a:srgbClr val="1B1232"/>
          </a:solidFill>
          <a:ln w="1524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2331720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4EFFC"/>
                </a:solidFill>
                <a:latin typeface="Segoe UI"/>
                <a:ea typeface="Segoe UI"/>
              </a:rPr>
              <a:t>One IP, one brand 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4EFFC"/>
                </a:solidFill>
                <a:latin typeface="Segoe UI"/>
                <a:ea typeface="Segoe UI"/>
              </a:rPr>
              <a:t>fan emotion creates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>
                <a:solidFill>
                  <a:srgbClr val="22D3EE"/>
                </a:solidFill>
                <a:latin typeface="Segoe UI"/>
                <a:ea typeface="Segoe UI"/>
              </a:rPr>
              <a:t>One of a Kind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069080"/>
            <a:ext cx="841248" cy="8412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65592" y="4069080"/>
            <a:ext cx="36576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>
                <a:solidFill>
                  <a:srgbClr val="22D3EE"/>
                </a:solidFill>
                <a:latin typeface="Space Grotesk"/>
                <a:ea typeface="Segoe UI"/>
              </a:rPr>
              <a:t>n</a:t>
            </a:r>
            <a:r>
              <a:rPr sz="3800" b="1">
                <a:solidFill>
                  <a:srgbClr val="22D3EE"/>
                </a:solidFill>
                <a:latin typeface="Space Grotesk"/>
                <a:ea typeface="Segoe UI"/>
              </a:rPr>
              <a:t>e</a:t>
            </a:r>
            <a:r>
              <a:rPr sz="3800" b="1">
                <a:solidFill>
                  <a:srgbClr val="8B5CF6"/>
                </a:solidFill>
                <a:latin typeface="Space Grotesk"/>
                <a:ea typeface="Segoe UI"/>
              </a:rPr>
              <a:t>I</a:t>
            </a:r>
            <a:r>
              <a:rPr sz="3800" b="1">
                <a:solidFill>
                  <a:srgbClr val="EC4899"/>
                </a:solidFill>
                <a:latin typeface="Space Grotesk"/>
                <a:ea typeface="Segoe UI"/>
              </a:rPr>
              <a:t>P</a:t>
            </a:r>
            <a:r>
              <a:rPr sz="3800" b="1">
                <a:solidFill>
                  <a:srgbClr val="EC4899"/>
                </a:solidFill>
                <a:latin typeface="Space Grotesk"/>
                <a:ea typeface="Segoe UI"/>
              </a:rPr>
              <a:t>.</a:t>
            </a:r>
            <a:r>
              <a:rPr sz="3800" b="1">
                <a:solidFill>
                  <a:srgbClr val="F472B6"/>
                </a:solidFill>
                <a:latin typeface="Space Grotesk"/>
                <a:ea typeface="Segoe UI"/>
              </a:rPr>
              <a:t>i</a:t>
            </a:r>
            <a:r>
              <a:rPr sz="3800" b="1">
                <a:solidFill>
                  <a:srgbClr val="FB7185"/>
                </a:solidFill>
                <a:latin typeface="Space Grotesk"/>
                <a:ea typeface="Segoe UI"/>
              </a:rP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5074920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Turn that uniqueness into a priceable, tradable, monetizable asset.</a:t>
            </a:r>
          </a:p>
        </p:txBody>
      </p:sp>
      <p:pic>
        <p:nvPicPr>
          <p:cNvPr id="19" name="Picture 18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OneIP: A Dual-Engine IP Economy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138928" cy="420624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1488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22D3EE"/>
                </a:solidFill>
                <a:latin typeface="Space Grotesk"/>
                <a:ea typeface="Segoe UI"/>
              </a:rPr>
              <a:t>oneIP.ai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Create IP · 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20040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Use AI to turn any creator / KOL / brand into distributable, licensable digital IP assets at scale.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453128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Segoe UI"/>
                <a:ea typeface="Segoe UI"/>
              </a:rPr>
              <a:t>AI avatar / IP persona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928616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28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Segoe UI"/>
                <a:ea typeface="Segoe UI"/>
              </a:rPr>
              <a:t>Content at scale (text / video)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404104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Segoe UI"/>
                <a:ea typeface="Segoe UI"/>
              </a:rPr>
              <a:t>Licensable IP asset packs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874519"/>
            <a:ext cx="5138928" cy="420624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14884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72B6"/>
                </a:solidFill>
                <a:latin typeface="Space Grotesk"/>
                <a:ea typeface="Segoe UI"/>
              </a:rPr>
              <a:t>oneIP.io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743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Trade IP · Liquidity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00400"/>
            <a:ext cx="4572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300" b="0">
                <a:solidFill>
                  <a:srgbClr val="A99FC0"/>
                </a:solidFill>
                <a:latin typeface="Segoe UI"/>
                <a:ea typeface="Segoe UI"/>
              </a:rPr>
              <a:t>A Solana launch &amp; trading terminal (pump.fun-style) that prices, circulates and monetizes IP on-chain.</a:t>
            </a:r>
          </a:p>
        </p:txBody>
      </p:sp>
      <p:sp>
        <p:nvSpPr>
          <p:cNvPr id="19" name="Oval 18"/>
          <p:cNvSpPr/>
          <p:nvPr/>
        </p:nvSpPr>
        <p:spPr>
          <a:xfrm>
            <a:off x="6528816" y="4453128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3136" y="4352544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Segoe UI"/>
                <a:ea typeface="Segoe UI"/>
              </a:rPr>
              <a:t>1-click IP / KOL token launch</a:t>
            </a:r>
          </a:p>
        </p:txBody>
      </p:sp>
      <p:sp>
        <p:nvSpPr>
          <p:cNvPr id="21" name="Oval 20"/>
          <p:cNvSpPr/>
          <p:nvPr/>
        </p:nvSpPr>
        <p:spPr>
          <a:xfrm>
            <a:off x="6528816" y="4928616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03136" y="4828032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Segoe UI"/>
                <a:ea typeface="Segoe UI"/>
              </a:rPr>
              <a:t>pump.fun-style trading terminal</a:t>
            </a:r>
          </a:p>
        </p:txBody>
      </p:sp>
      <p:sp>
        <p:nvSpPr>
          <p:cNvPr id="23" name="Oval 22"/>
          <p:cNvSpPr/>
          <p:nvPr/>
        </p:nvSpPr>
        <p:spPr>
          <a:xfrm>
            <a:off x="6528816" y="5404104"/>
            <a:ext cx="128016" cy="128016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03136" y="530352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>
                <a:solidFill>
                  <a:srgbClr val="F4EFFC"/>
                </a:solidFill>
                <a:latin typeface="Segoe UI"/>
                <a:ea typeface="Segoe UI"/>
              </a:rPr>
              <a:t>Fees + liquidity monetization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7296" y="3657600"/>
            <a:ext cx="603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000" b="1">
                <a:solidFill>
                  <a:srgbClr val="8B5CF6"/>
                </a:solidFill>
                <a:latin typeface="Space Grotesk"/>
                <a:ea typeface="Segoe UI"/>
              </a:rPr>
              <a:t>↔</a:t>
            </a:r>
          </a:p>
        </p:txBody>
      </p:sp>
      <p:pic>
        <p:nvPicPr>
          <p:cNvPr id="26" name="Picture 25" descr="on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411480"/>
            <a:ext cx="1280160" cy="1546860"/>
          </a:xfrm>
          <a:prstGeom prst="rect">
            <a:avLst/>
          </a:prstGeom>
        </p:spPr>
      </p:pic>
      <p:pic>
        <p:nvPicPr>
          <p:cNvPr id="27" name="Picture 26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BUSINESS MODEL · DUAL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Segoe UI"/>
                <a:ea typeface="Segoe UI"/>
              </a:rPr>
              <a:t>Dual-Engine Model: Create IP × Trade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oneIP.ai supplies IP, oneIP.io prices &amp; monetizes it — one real-asset-backed IP economy.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393192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22D3EE"/>
                </a:solidFill>
                <a:latin typeface="Space Grotesk"/>
                <a:ea typeface="Segoe UI"/>
              </a:rPr>
              <a:t>oneIP.ai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Create IP · Supply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1363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3044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3337560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AI avatar · content at scale · IP packs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3822191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37307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0233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KOLs · talent · brands · MCNs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45079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4165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47091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AI subs · licensing · custom IP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5193792"/>
            <a:ext cx="109728" cy="109728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51023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Moat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53949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IP-library flywheel · consistency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1920240"/>
            <a:ext cx="5486400" cy="3931920"/>
          </a:xfrm>
          <a:prstGeom prst="roundRect">
            <a:avLst>
              <a:gd name="adj" fmla="val 7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2103120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800" b="1">
                <a:solidFill>
                  <a:srgbClr val="F472B6"/>
                </a:solidFill>
                <a:latin typeface="Space Grotesk"/>
                <a:ea typeface="Segoe UI"/>
              </a:rPr>
              <a:t>oneIP.io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26060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Trade IP · Liquidity</a:t>
            </a:r>
          </a:p>
        </p:txBody>
      </p:sp>
      <p:sp>
        <p:nvSpPr>
          <p:cNvPr id="24" name="Oval 23"/>
          <p:cNvSpPr/>
          <p:nvPr/>
        </p:nvSpPr>
        <p:spPr>
          <a:xfrm>
            <a:off x="6537959" y="31363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0449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Segoe UI"/>
                <a:ea typeface="Segoe UI"/>
              </a:rP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3337560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1-click launch · pump.fun-style terminal</a:t>
            </a:r>
          </a:p>
        </p:txBody>
      </p:sp>
      <p:sp>
        <p:nvSpPr>
          <p:cNvPr id="27" name="Oval 26"/>
          <p:cNvSpPr/>
          <p:nvPr/>
        </p:nvSpPr>
        <p:spPr>
          <a:xfrm>
            <a:off x="6537959" y="3822191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57416" y="37307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Segoe UI"/>
                <a:ea typeface="Segoe UI"/>
              </a:rPr>
              <a:t>Users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57416" y="40233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Creators issue · fans/retail trade</a:t>
            </a:r>
          </a:p>
        </p:txBody>
      </p:sp>
      <p:sp>
        <p:nvSpPr>
          <p:cNvPr id="30" name="Oval 29"/>
          <p:cNvSpPr/>
          <p:nvPr/>
        </p:nvSpPr>
        <p:spPr>
          <a:xfrm>
            <a:off x="6537959" y="45079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7416" y="44165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Segoe UI"/>
                <a:ea typeface="Segoe UI"/>
              </a:rPr>
              <a:t>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6" y="47091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Trading fees (core) · launch · subs</a:t>
            </a:r>
          </a:p>
        </p:txBody>
      </p:sp>
      <p:sp>
        <p:nvSpPr>
          <p:cNvPr id="33" name="Oval 32"/>
          <p:cNvSpPr/>
          <p:nvPr/>
        </p:nvSpPr>
        <p:spPr>
          <a:xfrm>
            <a:off x="6537959" y="5193792"/>
            <a:ext cx="109728" cy="10972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7416" y="510235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72B6"/>
                </a:solidFill>
                <a:latin typeface="Segoe UI"/>
                <a:ea typeface="Segoe UI"/>
              </a:rPr>
              <a:t>Moat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7416" y="5394959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Volume→liquidity network · stickiness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943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>
                <a:solidFill>
                  <a:srgbClr val="FB7185"/>
                </a:solidFill>
                <a:latin typeface="Segoe UI"/>
                <a:ea typeface="Segoe UI"/>
              </a:rPr>
              <a:t>Iron rule: </a:t>
            </a:r>
            <a:r>
              <a:rPr sz="1150" b="0">
                <a:solidFill>
                  <a:srgbClr val="F4EFFC"/>
                </a:solidFill>
                <a:latin typeface="Segoe UI"/>
                <a:ea typeface="Segoe UI"/>
              </a:rPr>
              <a:t>No top-up swaps · no guaranteed returns · external cash-out only — anti-Ponzi.</a:t>
            </a:r>
          </a:p>
        </p:txBody>
      </p:sp>
      <p:pic>
        <p:nvPicPr>
          <p:cNvPr id="37" name="Picture 36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Segoe UI"/>
                <a:ea typeface="Segoe UI"/>
              </a:rPr>
              <a:t>AI Supply × On-chain Liquidity = Self-growing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500" b="0">
                <a:solidFill>
                  <a:srgbClr val="A99FC0"/>
                </a:solidFill>
                <a:latin typeface="Segoe UI"/>
                <a:ea typeface="Segoe UI"/>
              </a:rPr>
              <a:t>Others only launch tokens (speculative, prone to zero). We secure real supply via AI and liquidity via chain.</a:t>
            </a:r>
          </a:p>
        </p:txBody>
      </p:sp>
      <p:sp>
        <p:nvSpPr>
          <p:cNvPr id="6" name="Oval 5"/>
          <p:cNvSpPr/>
          <p:nvPr/>
        </p:nvSpPr>
        <p:spPr>
          <a:xfrm>
            <a:off x="5135270" y="3108960"/>
            <a:ext cx="1920240" cy="1920240"/>
          </a:xfrm>
          <a:prstGeom prst="ellipse">
            <a:avLst/>
          </a:prstGeom>
          <a:gradFill rotWithShape="1">
            <a:gsLst>
              <a:gs pos="0">
                <a:srgbClr val="22D3EE"/>
              </a:gs>
              <a:gs pos="45000">
                <a:srgbClr val="8B5CF6"/>
              </a:gs>
              <a:gs pos="100000">
                <a:srgbClr val="EC4899"/>
              </a:gs>
            </a:gsLst>
            <a:lin ang="3600000" scaled="1"/>
          </a:gradFill>
          <a:ln>
            <a:noFill/>
          </a:ln>
          <a:effectLst>
            <a:outerShdw blurRad="330200" dist="0" dir="5400000" rotWithShape="0">
              <a:srgbClr val="8B5CF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35270" y="3502152"/>
            <a:ext cx="1920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Space Grotesk"/>
                <a:ea typeface="Segoe UI"/>
              </a:rPr>
              <a:t>OneIP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Segoe UI"/>
                <a:ea typeface="Segoe UI"/>
              </a:rPr>
              <a:t>Flywheel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7847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22D3EE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135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AI keeps producing IP assets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5190" y="52349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F472B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070" y="52349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On-chain launch · liquidity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1910" y="36347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EC4899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4790" y="36347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Trading monetizes · rewards creators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5190" y="2034540"/>
            <a:ext cx="3200400" cy="868680"/>
          </a:xfrm>
          <a:prstGeom prst="roundRect">
            <a:avLst>
              <a:gd name="adj" fmla="val 20000"/>
            </a:avLst>
          </a:prstGeom>
          <a:solidFill>
            <a:srgbClr val="1B1232"/>
          </a:solidFill>
          <a:ln w="1651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070" y="2034540"/>
            <a:ext cx="2834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More IPs / brands onboard</a:t>
            </a:r>
          </a:p>
        </p:txBody>
      </p:sp>
      <p:pic>
        <p:nvPicPr>
          <p:cNvPr id="16" name="Picture 1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WHO WINS · VALUE FOR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Segoe UI"/>
                <a:ea typeface="Segoe UI"/>
              </a:rPr>
              <a:t>Value for Everyone: Every Side Wins on OneIP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Brand, supplier, everyday creator, KOL or IP — each side has its own way to earn on OneIP.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847088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Why partner with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1576" y="1847088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What you earn on OneIP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1847088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How OneIP helps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1091672" cy="1810512"/>
          </a:xfrm>
          <a:prstGeom prst="roundRect">
            <a:avLst>
              <a:gd name="adj" fmla="val 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596896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550" b="1">
                <a:solidFill>
                  <a:srgbClr val="F4EFFC"/>
                </a:solidFill>
                <a:latin typeface="Segoe UI"/>
                <a:ea typeface="Segoe UI"/>
              </a:rPr>
              <a:t>Brands &amp; 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1188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EC4899"/>
                </a:solidFill>
                <a:latin typeface="Segoe UI"/>
                <a:ea typeface="Segoe UI"/>
              </a:rPr>
              <a:t>Commerce side</a:t>
            </a:r>
          </a:p>
        </p:txBody>
      </p:sp>
      <p:sp>
        <p:nvSpPr>
          <p:cNvPr id="13" name="Oval 12"/>
          <p:cNvSpPr/>
          <p:nvPr/>
        </p:nvSpPr>
        <p:spPr>
          <a:xfrm>
            <a:off x="2788920" y="257860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6" y="24871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Reach KOLs &amp; loyal fans</a:t>
            </a:r>
          </a:p>
        </p:txBody>
      </p:sp>
      <p:sp>
        <p:nvSpPr>
          <p:cNvPr id="15" name="Oval 14"/>
          <p:cNvSpPr/>
          <p:nvPr/>
        </p:nvSpPr>
        <p:spPr>
          <a:xfrm>
            <a:off x="2788920" y="3090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08376" y="2999232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Fans are buyers — higher conversion</a:t>
            </a:r>
          </a:p>
        </p:txBody>
      </p:sp>
      <p:sp>
        <p:nvSpPr>
          <p:cNvPr id="17" name="Oval 16"/>
          <p:cNvSpPr/>
          <p:nvPr/>
        </p:nvSpPr>
        <p:spPr>
          <a:xfrm>
            <a:off x="2788920" y="3602736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8376" y="3511296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One platform, countless IPs</a:t>
            </a:r>
          </a:p>
        </p:txBody>
      </p:sp>
      <p:sp>
        <p:nvSpPr>
          <p:cNvPr id="19" name="Oval 18"/>
          <p:cNvSpPr/>
          <p:nvPr/>
        </p:nvSpPr>
        <p:spPr>
          <a:xfrm>
            <a:off x="5751576" y="257860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2" y="24871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Sell into fan communities</a:t>
            </a:r>
          </a:p>
        </p:txBody>
      </p:sp>
      <p:sp>
        <p:nvSpPr>
          <p:cNvPr id="21" name="Oval 20"/>
          <p:cNvSpPr/>
          <p:nvPr/>
        </p:nvSpPr>
        <p:spPr>
          <a:xfrm>
            <a:off x="5751576" y="3090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71032" y="2999232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IP collab / licensing share</a:t>
            </a:r>
          </a:p>
        </p:txBody>
      </p:sp>
      <p:sp>
        <p:nvSpPr>
          <p:cNvPr id="23" name="Oval 22"/>
          <p:cNvSpPr/>
          <p:nvPr/>
        </p:nvSpPr>
        <p:spPr>
          <a:xfrm>
            <a:off x="5751576" y="3602736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2" y="3511296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Upside from early launches</a:t>
            </a:r>
          </a:p>
        </p:txBody>
      </p:sp>
      <p:sp>
        <p:nvSpPr>
          <p:cNvPr id="25" name="Oval 24"/>
          <p:cNvSpPr/>
          <p:nvPr/>
        </p:nvSpPr>
        <p:spPr>
          <a:xfrm>
            <a:off x="8714232" y="257860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24871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Precise IP + fan-data match</a:t>
            </a:r>
          </a:p>
        </p:txBody>
      </p:sp>
      <p:sp>
        <p:nvSpPr>
          <p:cNvPr id="27" name="Oval 26"/>
          <p:cNvSpPr/>
          <p:nvPr/>
        </p:nvSpPr>
        <p:spPr>
          <a:xfrm>
            <a:off x="8714232" y="3090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3688" y="2999232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On-chain auto split, transparent</a:t>
            </a:r>
          </a:p>
        </p:txBody>
      </p:sp>
      <p:sp>
        <p:nvSpPr>
          <p:cNvPr id="29" name="Oval 28"/>
          <p:cNvSpPr/>
          <p:nvPr/>
        </p:nvSpPr>
        <p:spPr>
          <a:xfrm>
            <a:off x="8714232" y="3602736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33688" y="3511296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Anti-Ponzi, compliant venue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11091672" cy="1810512"/>
          </a:xfrm>
          <a:prstGeom prst="roundRect">
            <a:avLst>
              <a:gd name="adj" fmla="val 6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1248" y="4544568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550" b="1">
                <a:solidFill>
                  <a:srgbClr val="F4EFFC"/>
                </a:solidFill>
                <a:latin typeface="Segoe UI"/>
                <a:ea typeface="Segoe UI"/>
              </a:rPr>
              <a:t>Creators · KOLs · 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55955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>
                <a:solidFill>
                  <a:srgbClr val="22D3EE"/>
                </a:solidFill>
                <a:latin typeface="Segoe UI"/>
                <a:ea typeface="Segoe UI"/>
              </a:rPr>
              <a:t>Creator side</a:t>
            </a:r>
          </a:p>
        </p:txBody>
      </p:sp>
      <p:sp>
        <p:nvSpPr>
          <p:cNvPr id="35" name="Oval 34"/>
          <p:cNvSpPr/>
          <p:nvPr/>
        </p:nvSpPr>
        <p:spPr>
          <a:xfrm>
            <a:off x="2788920" y="4526279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8376" y="4434840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Influence becomes an asset</a:t>
            </a:r>
          </a:p>
        </p:txBody>
      </p:sp>
      <p:sp>
        <p:nvSpPr>
          <p:cNvPr id="37" name="Oval 36"/>
          <p:cNvSpPr/>
          <p:nvPr/>
        </p:nvSpPr>
        <p:spPr>
          <a:xfrm>
            <a:off x="2788920" y="50383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08376" y="4946904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Zero-barrier token launch</a:t>
            </a:r>
          </a:p>
        </p:txBody>
      </p:sp>
      <p:sp>
        <p:nvSpPr>
          <p:cNvPr id="39" name="Oval 38"/>
          <p:cNvSpPr/>
          <p:nvPr/>
        </p:nvSpPr>
        <p:spPr>
          <a:xfrm>
            <a:off x="2788920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08376" y="54589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AI-assisted content engine</a:t>
            </a:r>
          </a:p>
        </p:txBody>
      </p:sp>
      <p:sp>
        <p:nvSpPr>
          <p:cNvPr id="41" name="Oval 40"/>
          <p:cNvSpPr/>
          <p:nvPr/>
        </p:nvSpPr>
        <p:spPr>
          <a:xfrm>
            <a:off x="5751576" y="4526279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71032" y="4434840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Launch raise + ongoing royalties</a:t>
            </a:r>
          </a:p>
        </p:txBody>
      </p:sp>
      <p:sp>
        <p:nvSpPr>
          <p:cNvPr id="43" name="Oval 42"/>
          <p:cNvSpPr/>
          <p:nvPr/>
        </p:nvSpPr>
        <p:spPr>
          <a:xfrm>
            <a:off x="5751576" y="50383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4946904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Fees · tips · memberships</a:t>
            </a:r>
          </a:p>
        </p:txBody>
      </p:sp>
      <p:sp>
        <p:nvSpPr>
          <p:cNvPr id="45" name="Oval 44"/>
          <p:cNvSpPr/>
          <p:nvPr/>
        </p:nvSpPr>
        <p:spPr>
          <a:xfrm>
            <a:off x="5751576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71032" y="54589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Brand deals / sales share</a:t>
            </a:r>
          </a:p>
        </p:txBody>
      </p:sp>
      <p:sp>
        <p:nvSpPr>
          <p:cNvPr id="47" name="Oval 46"/>
          <p:cNvSpPr/>
          <p:nvPr/>
        </p:nvSpPr>
        <p:spPr>
          <a:xfrm>
            <a:off x="8714232" y="4526279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33688" y="4434840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1-click launch + terminal</a:t>
            </a:r>
          </a:p>
        </p:txBody>
      </p:sp>
      <p:sp>
        <p:nvSpPr>
          <p:cNvPr id="49" name="Oval 48"/>
          <p:cNvSpPr/>
          <p:nvPr/>
        </p:nvSpPr>
        <p:spPr>
          <a:xfrm>
            <a:off x="8714232" y="5038344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33688" y="4946904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AI-built IP: avatar &amp; content</a:t>
            </a:r>
          </a:p>
        </p:txBody>
      </p:sp>
      <p:sp>
        <p:nvSpPr>
          <p:cNvPr id="51" name="Oval 50"/>
          <p:cNvSpPr/>
          <p:nvPr/>
        </p:nvSpPr>
        <p:spPr>
          <a:xfrm>
            <a:off x="8714232" y="555040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33688" y="5458968"/>
            <a:ext cx="26151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Social tools + traffic &amp; brands</a:t>
            </a:r>
          </a:p>
        </p:txBody>
      </p:sp>
      <p:pic>
        <p:nvPicPr>
          <p:cNvPr id="53" name="Picture 52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Segoe UI"/>
                <a:ea typeface="Segoe UI"/>
              </a:rPr>
              <a:t>Why OneIP: One Platform Fixes Everyone's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44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Launch, trading, social, brands — each player has strengths and gaps. OneIP unifies them, safely.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Core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Trait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Pain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87451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spc="60">
                <a:solidFill>
                  <a:srgbClr val="7A6F96"/>
                </a:solidFill>
                <a:latin typeface="Segoe UI"/>
                <a:ea typeface="Segoe UI"/>
              </a:rPr>
              <a:t>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2592324"/>
            <a:ext cx="100584" cy="100584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240280"/>
            <a:ext cx="1143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100" b="1">
                <a:solidFill>
                  <a:srgbClr val="F4EFFC"/>
                </a:solidFill>
                <a:latin typeface="Space Grotesk"/>
                <a:ea typeface="Segoe UI"/>
              </a:rPr>
              <a:t>pump.fun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2402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Segoe UI"/>
                <a:ea typeface="Segoe UI"/>
              </a:rPr>
              <a:t>1-click meme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2402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Segoe UI"/>
                <a:ea typeface="Segoe UI"/>
              </a:rPr>
              <a:t>Pure on-chain ·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2402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Segoe UI"/>
                <a:ea typeface="Segoe UI"/>
              </a:rPr>
              <a:t>No vetting · rug-prone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402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D7A6B5"/>
                </a:solidFill>
                <a:latin typeface="Segoe UI"/>
                <a:ea typeface="Segoe UI"/>
              </a:rPr>
              <a:t>Speculative · no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402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Segoe UI"/>
                <a:ea typeface="Segoe UI"/>
              </a:rPr>
              <a:t>Fast cold-start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8096" y="3506724"/>
            <a:ext cx="100584" cy="10058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154680"/>
            <a:ext cx="1143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100" b="1">
                <a:solidFill>
                  <a:srgbClr val="F4EFFC"/>
                </a:solidFill>
                <a:latin typeface="Segoe UI"/>
                <a:ea typeface="Segoe UI"/>
              </a:rPr>
              <a:t>Social platforms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1546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Segoe UI"/>
                <a:ea typeface="Segoe UI"/>
              </a:rPr>
              <a:t>Content &amp; connection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1546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Segoe UI"/>
                <a:ea typeface="Segoe UI"/>
              </a:rPr>
              <a:t>Centralized 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1546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Segoe UI"/>
                <a:ea typeface="Segoe UI"/>
              </a:rPr>
              <a:t>Platform-compliant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546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D7A6B5"/>
                </a:solidFill>
                <a:latin typeface="Segoe UI"/>
                <a:ea typeface="Segoe UI"/>
              </a:rPr>
              <a:t>Hard to monetize · high cut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1546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Segoe UI"/>
                <a:ea typeface="Segoe UI"/>
              </a:rPr>
              <a:t>Large fan base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0690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68096" y="4421124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069080"/>
            <a:ext cx="11430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100" b="1">
                <a:solidFill>
                  <a:srgbClr val="F4EFFC"/>
                </a:solidFill>
                <a:latin typeface="Segoe UI"/>
                <a:ea typeface="Segoe UI"/>
              </a:rPr>
              <a:t>Brands / IP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0690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Segoe UI"/>
                <a:ea typeface="Segoe UI"/>
              </a:rPr>
              <a:t>Licensing / collab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40690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Segoe UI"/>
                <a:ea typeface="Segoe UI"/>
              </a:rPr>
              <a:t>Centralized licensing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0690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A99FC0"/>
                </a:solidFill>
                <a:latin typeface="Segoe UI"/>
                <a:ea typeface="Segoe UI"/>
              </a:rPr>
              <a:t>Mature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0690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D7A6B5"/>
                </a:solidFill>
                <a:latin typeface="Segoe UI"/>
                <a:ea typeface="Segoe UI"/>
              </a:rPr>
              <a:t>Slow · no fan 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40690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C9C0E0"/>
                </a:solidFill>
                <a:latin typeface="Segoe UI"/>
                <a:ea typeface="Segoe UI"/>
              </a:rPr>
              <a:t>High trust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83480"/>
            <a:ext cx="11091672" cy="804672"/>
          </a:xfrm>
          <a:prstGeom prst="roundRect">
            <a:avLst>
              <a:gd name="adj" fmla="val 10000"/>
            </a:avLst>
          </a:prstGeom>
          <a:solidFill>
            <a:srgbClr val="1B1232"/>
          </a:solidFill>
          <a:ln w="1905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12080"/>
            <a:ext cx="347472" cy="34747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52144" y="4983480"/>
            <a:ext cx="1005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>
                <a:solidFill>
                  <a:srgbClr val="F4EFFC"/>
                </a:solidFill>
                <a:latin typeface="Space Grotesk"/>
                <a:ea typeface="Segoe UI"/>
              </a:rPr>
              <a:t>OneIP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4983480"/>
            <a:ext cx="178308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F4EFFC"/>
                </a:solidFill>
                <a:latin typeface="Segoe UI"/>
                <a:ea typeface="Segoe UI"/>
              </a:rPr>
              <a:t>Launch+trade+social+AI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39" y="4983480"/>
            <a:ext cx="1645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22D3EE"/>
                </a:solidFill>
                <a:latin typeface="Segoe UI"/>
                <a:ea typeface="Segoe UI"/>
              </a:rPr>
              <a:t>IP-ization · co-creation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983480"/>
            <a:ext cx="160020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34D399"/>
                </a:solidFill>
                <a:latin typeface="Segoe UI"/>
                <a:ea typeface="Segoe UI"/>
              </a:rPr>
              <a:t>Anti-Ponzi · ext. cash-out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983480"/>
            <a:ext cx="214884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0">
                <a:solidFill>
                  <a:srgbClr val="34D399"/>
                </a:solidFill>
                <a:latin typeface="Segoe UI"/>
                <a:ea typeface="Segoe UI"/>
              </a:rPr>
              <a:t>Fixes every 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983480"/>
            <a:ext cx="21031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00" b="1">
                <a:solidFill>
                  <a:srgbClr val="F472B6"/>
                </a:solidFill>
                <a:latin typeface="Segoe UI"/>
                <a:ea typeface="Segoe UI"/>
              </a:rPr>
              <a:t>Real-value loop</a:t>
            </a:r>
          </a:p>
        </p:txBody>
      </p:sp>
      <p:pic>
        <p:nvPicPr>
          <p:cNvPr id="44" name="Picture 43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Segoe UI"/>
                <a:ea typeface="Segoe UI"/>
              </a:rPr>
              <a:t>A Trillion-Dollar IP Economy, Moving On-chain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The creator economy keeps surging; making fan emotion priceable &amp; tradable is its biggest unmet gap.</a:t>
            </a:r>
          </a:p>
        </p:txBody>
      </p:sp>
      <p:sp>
        <p:nvSpPr>
          <p:cNvPr id="6" name="Oval 5"/>
          <p:cNvSpPr/>
          <p:nvPr/>
        </p:nvSpPr>
        <p:spPr>
          <a:xfrm>
            <a:off x="1234439" y="2103120"/>
            <a:ext cx="4023360" cy="402336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8B5CF6"/>
            </a:solidFill>
          </a:ln>
          <a:effectLst>
            <a:outerShdw blurRad="228600" dist="0" dir="5400000" rotWithShape="0">
              <a:srgbClr val="8B5CF6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4519" y="2743200"/>
            <a:ext cx="2743200" cy="2743200"/>
          </a:xfrm>
          <a:prstGeom prst="ellipse">
            <a:avLst/>
          </a:prstGeom>
          <a:solidFill>
            <a:srgbClr val="150E26"/>
          </a:solidFill>
          <a:ln w="25400">
            <a:solidFill>
              <a:srgbClr val="EC4899"/>
            </a:solidFill>
          </a:ln>
          <a:effectLst>
            <a:outerShdw blurRad="228600" dist="0" dir="5400000" rotWithShape="0">
              <a:srgbClr val="EC489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79" y="3337560"/>
            <a:ext cx="1554480" cy="1554480"/>
          </a:xfrm>
          <a:prstGeom prst="ellipse">
            <a:avLst/>
          </a:prstGeom>
          <a:solidFill>
            <a:srgbClr val="1B1232"/>
          </a:solidFill>
          <a:ln w="25400">
            <a:solidFill>
              <a:srgbClr val="22D3EE"/>
            </a:solidFill>
          </a:ln>
          <a:effectLst>
            <a:outerShdw blurRad="228600" dist="0" dir="5400000" rotWithShape="0">
              <a:srgbClr val="22D3EE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79" y="233172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>
                <a:solidFill>
                  <a:srgbClr val="8B5CF6"/>
                </a:solidFill>
                <a:latin typeface="Space Grotesk"/>
                <a:ea typeface="Segoe UI"/>
              </a:rPr>
              <a:t>TAM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700" b="1">
                <a:solidFill>
                  <a:srgbClr val="F4EFFC"/>
                </a:solidFill>
                <a:latin typeface="Space Grotesk"/>
                <a:ea typeface="Segoe UI"/>
              </a:rPr>
              <a:t>$250B+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79" y="3127248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EC4899"/>
                </a:solidFill>
                <a:latin typeface="Space Grotesk"/>
                <a:ea typeface="Segoe UI"/>
              </a:rPr>
              <a:t>SAM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Segoe UI"/>
              </a:rPr>
              <a:t>$50B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840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22D3EE"/>
                </a:solidFill>
                <a:latin typeface="Space Grotesk"/>
                <a:ea typeface="Segoe UI"/>
              </a:rPr>
              <a:t>SOM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pace Grotesk"/>
                <a:ea typeface="Segoe UI"/>
              </a:rPr>
              <a:t>$1.5B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965960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56832" y="2295144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112264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egoe UI"/>
                <a:ea typeface="Segoe UI"/>
              </a:rPr>
              <a:t>TAM · Global creator economy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459736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Annual global creator / influencer economy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16936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56832" y="3246120"/>
            <a:ext cx="182880" cy="182880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3063240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egoe UI"/>
                <a:ea typeface="Segoe UI"/>
              </a:rPr>
              <a:t>SAM · Tokenizable IP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341071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Influencer / KOL / brand IP fit to tokenize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67912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56832" y="4197096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401421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EFFC"/>
                </a:solidFill>
                <a:latin typeface="Segoe UI"/>
                <a:ea typeface="Segoe UI"/>
              </a:rPr>
              <a:t>SOM · Obtainable in 3 yrs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4361688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OneIP's reachable launch+trade+social share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8348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Drivers: </a:t>
            </a:r>
            <a:r>
              <a:rPr sz="1150" b="0">
                <a:solidFill>
                  <a:srgbClr val="F4EFFC"/>
                </a:solidFill>
                <a:latin typeface="Segoe UI"/>
                <a:ea typeface="Segoe UI"/>
              </a:rPr>
              <a:t>~20% creator-economy CAGR · surging fan-token demand · short-video KOL supply · fans pay for belonging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943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* Market figures are public-data estimates, for scale illustration.</a:t>
            </a:r>
          </a:p>
        </p:txBody>
      </p:sp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Diversified Revenue, Scalable Cash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1168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2322576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2414016"/>
            <a:ext cx="118872" cy="118872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1579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Trading fees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514600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oneIP.io core revenue, scales with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35808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32688" y="3346704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3438144"/>
            <a:ext cx="118872" cy="118872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18211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AI subscriptions (SaaS)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538728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oneIP.ai recurring monthly / annual revenue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59936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32688" y="4370832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" y="4462272"/>
            <a:ext cx="118872" cy="118872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206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Launch &amp; licensing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562856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Launch fees + IP licensing share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084064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2688" y="5394960"/>
            <a:ext cx="292608" cy="292608"/>
          </a:xfrm>
          <a:prstGeom prst="ellipse">
            <a:avLst/>
          </a:prstGeom>
          <a:solidFill>
            <a:srgbClr val="1B1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" y="5486400"/>
            <a:ext cx="118872" cy="118872"/>
          </a:xfrm>
          <a:prstGeom prst="ellipse">
            <a:avLst/>
          </a:prstGeom>
          <a:solidFill>
            <a:srgbClr val="FB7185"/>
          </a:solidFill>
          <a:ln>
            <a:noFill/>
          </a:ln>
          <a:effectLst>
            <a:outerShdw blurRad="279400" dist="0" dir="5400000" rotWithShape="0">
              <a:srgbClr val="FB718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52303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Premium &amp; 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586984"/>
            <a:ext cx="4343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A99FC0"/>
                </a:solidFill>
                <a:latin typeface="Segoe UI"/>
                <a:ea typeface="Segoe UI"/>
              </a:rPr>
              <a:t>Terminal subs, market-making, custom IP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6172200" y="2011680"/>
          <a:ext cx="5349240" cy="3931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26" name="Picture 25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BIG PICTURE · WEB4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900" b="1">
                <a:solidFill>
                  <a:srgbClr val="F4EFFC"/>
                </a:solidFill>
                <a:latin typeface="Segoe UI"/>
                <a:ea typeface="Segoe UI"/>
              </a:rPr>
              <a:t>Web4: Fans as Assets, an IP Economy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Once enough brands, influencers and fan data aggregate, scale effects drive exponential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Brands &amp; 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8B5CF6"/>
                </a:solidFill>
                <a:latin typeface="Space Grotesk"/>
                <a:ea typeface="Segoe UI"/>
              </a:rPr>
              <a:t>30,000+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Influencer / creator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EC4899"/>
                </a:solidFill>
                <a:latin typeface="Space Grotesk"/>
                <a:ea typeface="Segoe UI"/>
              </a:rPr>
              <a:t>200,000+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Fans reached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F472B6"/>
                </a:solidFill>
                <a:latin typeface="Space Grotesk"/>
                <a:ea typeface="Segoe UI"/>
              </a:rPr>
              <a:t>300M+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5128" y="1920240"/>
            <a:ext cx="2606040" cy="1371600"/>
          </a:xfrm>
          <a:prstGeom prst="roundRect">
            <a:avLst>
              <a:gd name="adj" fmla="val 10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121408"/>
            <a:ext cx="2148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Annual 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8716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600" b="1">
                <a:solidFill>
                  <a:srgbClr val="22D3EE"/>
                </a:solidFill>
                <a:latin typeface="Space Grotesk"/>
                <a:ea typeface="Segoe UI"/>
              </a:rPr>
              <a:t>$3B+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017520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2028E assumption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40080" y="3703320"/>
          <a:ext cx="6309360" cy="2423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269480" y="3611880"/>
            <a:ext cx="4251960" cy="2606040"/>
          </a:xfrm>
          <a:prstGeom prst="roundRect">
            <a:avLst>
              <a:gd name="adj" fmla="val 9000"/>
            </a:avLst>
          </a:prstGeom>
          <a:solidFill>
            <a:srgbClr val="1B1232"/>
          </a:solidFill>
          <a:ln w="17780">
            <a:solidFill>
              <a:srgbClr val="8B5CF6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3712463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2028E platform revenue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950208"/>
            <a:ext cx="3794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500" b="1">
                <a:solidFill>
                  <a:srgbClr val="22D3EE"/>
                </a:solidFill>
                <a:latin typeface="Space Grotesk"/>
                <a:ea typeface="Segoe UI"/>
              </a:rPr>
              <a:t>$150M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17136"/>
            <a:ext cx="3794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7A6F96"/>
                </a:solidFill>
                <a:latin typeface="Segoe UI"/>
                <a:ea typeface="Segoe UI"/>
              </a:rPr>
              <a:t>Valuation = revenue × 40× 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846320"/>
            <a:ext cx="3794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>
                <a:solidFill>
                  <a:srgbClr val="A99FC0"/>
                </a:solidFill>
                <a:latin typeface="Segoe UI"/>
                <a:ea typeface="Segoe UI"/>
              </a:rPr>
              <a:t>2028E company 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065776"/>
            <a:ext cx="3794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700" b="1">
                <a:solidFill>
                  <a:srgbClr val="F472B6"/>
                </a:solidFill>
                <a:latin typeface="Space Grotesk"/>
                <a:ea typeface="Segoe UI"/>
              </a:rPr>
              <a:t>$6B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81558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950" b="0">
                <a:solidFill>
                  <a:srgbClr val="7A6F96"/>
                </a:solidFill>
                <a:latin typeface="Segoe UI"/>
                <a:ea typeface="Segoe UI"/>
              </a:rPr>
              <a:t>* 40× PE estimate; vision assumption under a scale scenario, not a forecast.</a:t>
            </a:r>
          </a:p>
        </p:txBody>
      </p:sp>
      <p:pic>
        <p:nvPicPr>
          <p:cNvPr id="30" name="Picture 29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Loop in 18 Months, Profit in 3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1619" y="2779776"/>
            <a:ext cx="9125712" cy="18288"/>
          </a:xfrm>
          <a:prstGeom prst="rect">
            <a:avLst/>
          </a:prstGeom>
          <a:solidFill>
            <a:srgbClr val="2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pace Grotesk"/>
                <a:ea typeface="Segoe UI"/>
              </a:rPr>
              <a:t>2026 Q3</a:t>
            </a:r>
          </a:p>
        </p:txBody>
      </p:sp>
      <p:sp>
        <p:nvSpPr>
          <p:cNvPr id="7" name="Oval 6"/>
          <p:cNvSpPr/>
          <p:nvPr/>
        </p:nvSpPr>
        <p:spPr>
          <a:xfrm>
            <a:off x="1412748" y="2670048"/>
            <a:ext cx="237744" cy="237744"/>
          </a:xfrm>
          <a:prstGeom prst="ellipse">
            <a:avLst/>
          </a:prstGeom>
          <a:solidFill>
            <a:srgbClr val="22D3EE"/>
          </a:solidFill>
          <a:ln>
            <a:noFill/>
          </a:ln>
          <a:effectLst>
            <a:outerShdw blurRad="279400" dist="0" dir="5400000" rotWithShape="0">
              <a:srgbClr val="22D3EE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Platform MVP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4233672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oneIP.io launch + terminal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480060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First KOLs onboard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536752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Wallet · charts · copy-trade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0068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8B5CF6"/>
                </a:solidFill>
                <a:latin typeface="Space Grotesk"/>
                <a:ea typeface="Segoe UI"/>
              </a:rPr>
              <a:t>2026 Q4</a:t>
            </a:r>
          </a:p>
        </p:txBody>
      </p:sp>
      <p:sp>
        <p:nvSpPr>
          <p:cNvPr id="17" name="Oval 16"/>
          <p:cNvSpPr/>
          <p:nvPr/>
        </p:nvSpPr>
        <p:spPr>
          <a:xfrm>
            <a:off x="3694176" y="2670048"/>
            <a:ext cx="237744" cy="237744"/>
          </a:xfrm>
          <a:prstGeom prst="ellipse">
            <a:avLst/>
          </a:prstGeom>
          <a:solidFill>
            <a:srgbClr val="8B5CF6"/>
          </a:solidFill>
          <a:ln>
            <a:noFill/>
          </a:ln>
          <a:effectLst>
            <a:outerShdw blurRad="279400" dist="0" dir="5400000" rotWithShape="0">
              <a:srgbClr val="8B5CF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30068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58668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AI IP goes live</a:t>
            </a:r>
          </a:p>
        </p:txBody>
      </p:sp>
      <p:sp>
        <p:nvSpPr>
          <p:cNvPr id="20" name="Oval 19"/>
          <p:cNvSpPr/>
          <p:nvPr/>
        </p:nvSpPr>
        <p:spPr>
          <a:xfrm>
            <a:off x="3076956" y="4233672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87268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oneIP.ai beta</a:t>
            </a:r>
          </a:p>
        </p:txBody>
      </p:sp>
      <p:sp>
        <p:nvSpPr>
          <p:cNvPr id="22" name="Oval 21"/>
          <p:cNvSpPr/>
          <p:nvPr/>
        </p:nvSpPr>
        <p:spPr>
          <a:xfrm>
            <a:off x="3076956" y="480060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7268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AI avatar / content</a:t>
            </a:r>
          </a:p>
        </p:txBody>
      </p:sp>
      <p:sp>
        <p:nvSpPr>
          <p:cNvPr id="24" name="Oval 23"/>
          <p:cNvSpPr/>
          <p:nvPr/>
        </p:nvSpPr>
        <p:spPr>
          <a:xfrm>
            <a:off x="3076956" y="5367528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7268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Volume &amp; users ramp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11496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EC4899"/>
                </a:solidFill>
                <a:latin typeface="Space Grotesk"/>
                <a:ea typeface="Segoe UI"/>
              </a:rPr>
              <a:t>2027 H1</a:t>
            </a:r>
          </a:p>
        </p:txBody>
      </p:sp>
      <p:sp>
        <p:nvSpPr>
          <p:cNvPr id="27" name="Oval 26"/>
          <p:cNvSpPr/>
          <p:nvPr/>
        </p:nvSpPr>
        <p:spPr>
          <a:xfrm>
            <a:off x="5975604" y="2670048"/>
            <a:ext cx="237744" cy="237744"/>
          </a:xfrm>
          <a:prstGeom prst="ellipse">
            <a:avLst/>
          </a:prstGeom>
          <a:solidFill>
            <a:srgbClr val="EC4899"/>
          </a:solidFill>
          <a:ln>
            <a:noFill/>
          </a:ln>
          <a:effectLst>
            <a:outerShdw blurRad="279400" dist="0" dir="5400000" rotWithShape="0">
              <a:srgbClr val="EC4899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11496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0096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Scale-up</a:t>
            </a:r>
          </a:p>
        </p:txBody>
      </p:sp>
      <p:sp>
        <p:nvSpPr>
          <p:cNvPr id="30" name="Oval 29"/>
          <p:cNvSpPr/>
          <p:nvPr/>
        </p:nvSpPr>
        <p:spPr>
          <a:xfrm>
            <a:off x="5358383" y="4233672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68696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Brand / MCN deals</a:t>
            </a:r>
          </a:p>
        </p:txBody>
      </p:sp>
      <p:sp>
        <p:nvSpPr>
          <p:cNvPr id="32" name="Oval 31"/>
          <p:cNvSpPr/>
          <p:nvPr/>
        </p:nvSpPr>
        <p:spPr>
          <a:xfrm>
            <a:off x="5358383" y="4800600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68696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Fan social &amp; co-creation</a:t>
            </a:r>
          </a:p>
        </p:txBody>
      </p:sp>
      <p:sp>
        <p:nvSpPr>
          <p:cNvPr id="34" name="Oval 33"/>
          <p:cNvSpPr/>
          <p:nvPr/>
        </p:nvSpPr>
        <p:spPr>
          <a:xfrm>
            <a:off x="5358383" y="536752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8696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Users &amp; revenue grow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92924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72B6"/>
                </a:solidFill>
                <a:latin typeface="Space Grotesk"/>
                <a:ea typeface="Segoe UI"/>
              </a:rPr>
              <a:t>2027 H2</a:t>
            </a:r>
          </a:p>
        </p:txBody>
      </p:sp>
      <p:sp>
        <p:nvSpPr>
          <p:cNvPr id="37" name="Oval 36"/>
          <p:cNvSpPr/>
          <p:nvPr/>
        </p:nvSpPr>
        <p:spPr>
          <a:xfrm>
            <a:off x="8257031" y="2670048"/>
            <a:ext cx="237744" cy="237744"/>
          </a:xfrm>
          <a:prstGeom prst="ellipse">
            <a:avLst/>
          </a:prstGeom>
          <a:solidFill>
            <a:srgbClr val="F472B6"/>
          </a:solidFill>
          <a:ln>
            <a:noFill/>
          </a:ln>
          <a:effectLst>
            <a:outerShdw blurRad="279400" dist="0" dir="5400000" rotWithShape="0">
              <a:srgbClr val="F472B6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92924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1524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Global &amp; break-even</a:t>
            </a:r>
          </a:p>
        </p:txBody>
      </p:sp>
      <p:sp>
        <p:nvSpPr>
          <p:cNvPr id="40" name="Oval 39"/>
          <p:cNvSpPr/>
          <p:nvPr/>
        </p:nvSpPr>
        <p:spPr>
          <a:xfrm>
            <a:off x="7639812" y="4233672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50124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Multi-chain + overseas</a:t>
            </a:r>
          </a:p>
        </p:txBody>
      </p:sp>
      <p:sp>
        <p:nvSpPr>
          <p:cNvPr id="42" name="Oval 41"/>
          <p:cNvSpPr/>
          <p:nvPr/>
        </p:nvSpPr>
        <p:spPr>
          <a:xfrm>
            <a:off x="7639812" y="4800600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50124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Market-making / liquidity</a:t>
            </a:r>
          </a:p>
        </p:txBody>
      </p:sp>
      <p:sp>
        <p:nvSpPr>
          <p:cNvPr id="44" name="Oval 43"/>
          <p:cNvSpPr/>
          <p:nvPr/>
        </p:nvSpPr>
        <p:spPr>
          <a:xfrm>
            <a:off x="7639812" y="5367528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50124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Reach break-even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224028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B7185"/>
                </a:solidFill>
                <a:latin typeface="Space Grotesk"/>
                <a:ea typeface="Segoe UI"/>
              </a:rPr>
              <a:t>2028</a:t>
            </a:r>
          </a:p>
        </p:txBody>
      </p:sp>
      <p:sp>
        <p:nvSpPr>
          <p:cNvPr id="47" name="Oval 46"/>
          <p:cNvSpPr/>
          <p:nvPr/>
        </p:nvSpPr>
        <p:spPr>
          <a:xfrm>
            <a:off x="10538459" y="2670048"/>
            <a:ext cx="237744" cy="237744"/>
          </a:xfrm>
          <a:prstGeom prst="ellipse">
            <a:avLst/>
          </a:prstGeom>
          <a:solidFill>
            <a:srgbClr val="FB7185"/>
          </a:solidFill>
          <a:ln>
            <a:noFill/>
          </a:ln>
          <a:effectLst>
            <a:outerShdw blurRad="279400" dist="0" dir="5400000" rotWithShape="0">
              <a:srgbClr val="FB7185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674352" y="3154680"/>
            <a:ext cx="1965960" cy="269748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02952" y="3364992"/>
            <a:ext cx="1554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F4EFFC"/>
                </a:solidFill>
                <a:latin typeface="Segoe UI"/>
                <a:ea typeface="Segoe UI"/>
              </a:rPr>
              <a:t>Ecosystem &amp; profit</a:t>
            </a:r>
          </a:p>
        </p:txBody>
      </p:sp>
      <p:sp>
        <p:nvSpPr>
          <p:cNvPr id="50" name="Oval 49"/>
          <p:cNvSpPr/>
          <p:nvPr/>
        </p:nvSpPr>
        <p:spPr>
          <a:xfrm>
            <a:off x="9921240" y="4233672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31552" y="414223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Open ecosystem / API</a:t>
            </a:r>
          </a:p>
        </p:txBody>
      </p:sp>
      <p:sp>
        <p:nvSpPr>
          <p:cNvPr id="52" name="Oval 51"/>
          <p:cNvSpPr/>
          <p:nvPr/>
        </p:nvSpPr>
        <p:spPr>
          <a:xfrm>
            <a:off x="9921240" y="4800600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31552" y="4709160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IP secondary market</a:t>
            </a:r>
          </a:p>
        </p:txBody>
      </p:sp>
      <p:sp>
        <p:nvSpPr>
          <p:cNvPr id="54" name="Oval 53"/>
          <p:cNvSpPr/>
          <p:nvPr/>
        </p:nvSpPr>
        <p:spPr>
          <a:xfrm>
            <a:off x="9921240" y="5367528"/>
            <a:ext cx="91440" cy="91440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31552" y="5276088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Sustained profit</a:t>
            </a:r>
          </a:p>
        </p:txBody>
      </p:sp>
      <p:pic>
        <p:nvPicPr>
          <p:cNvPr id="56" name="Picture 5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F4EFFC"/>
                </a:solidFill>
                <a:latin typeface="Segoe UI"/>
                <a:ea typeface="Segoe UI"/>
              </a:rPr>
              <a:t>A Team That Knows Content, Chain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>
                <a:solidFill>
                  <a:srgbClr val="A99FC0"/>
                </a:solidFill>
                <a:latin typeface="Segoe UI"/>
                <a:ea typeface="Segoe UI"/>
              </a:rPr>
              <a:t>Core members come from content/social and frontline Web3 — blending audience growth with on-chain engineering.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8B5CF6"/>
              </a:gs>
              <a:gs pos="100000">
                <a:srgbClr val="EC4899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8B5CF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Segoe UI"/>
              </a:rPr>
              <a:t>BK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Benny Kau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Founder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321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6986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22D3EE"/>
              </a:gs>
              <a:gs pos="100000">
                <a:srgbClr val="8B5CF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22D3EE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6986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Segoe UI"/>
              </a:rPr>
              <a:t>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636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Andy Yeo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293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Co-Founder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778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91556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EC4899"/>
              </a:gs>
              <a:gs pos="100000">
                <a:srgbClr val="F472B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EC4899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1556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Segoe UI"/>
              </a:rPr>
              <a:t>JK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093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Joyce Kau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50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CEO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235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66125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FB7185"/>
              </a:gs>
              <a:gs pos="100000">
                <a:srgbClr val="F472B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FB7185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6125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Segoe UI"/>
              </a:rPr>
              <a:t>SL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550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Sam Lee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82077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COO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2240280"/>
            <a:ext cx="1993392" cy="3200400"/>
          </a:xfrm>
          <a:prstGeom prst="roundRect">
            <a:avLst>
              <a:gd name="adj" fmla="val 9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0696" y="2606040"/>
            <a:ext cx="1005840" cy="1005840"/>
          </a:xfrm>
          <a:prstGeom prst="ellipse">
            <a:avLst/>
          </a:prstGeom>
          <a:gradFill rotWithShape="1">
            <a:gsLst>
              <a:gs pos="0">
                <a:srgbClr val="F472B6"/>
              </a:gs>
              <a:gs pos="100000">
                <a:srgbClr val="8B5CF6"/>
              </a:gs>
            </a:gsLst>
            <a:lin ang="3300000" scaled="1"/>
          </a:gradFill>
          <a:ln>
            <a:noFill/>
          </a:ln>
          <a:effectLst>
            <a:outerShdw blurRad="203200" dist="0" dir="5400000" rotWithShape="0">
              <a:srgbClr val="F472B6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0696" y="26060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>
                <a:solidFill>
                  <a:srgbClr val="FFFFFF"/>
                </a:solidFill>
                <a:latin typeface="Space Grotesk"/>
                <a:ea typeface="Segoe UI"/>
              </a:rPr>
              <a:t>FC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0072" y="3886200"/>
            <a:ext cx="18470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500" b="1">
                <a:solidFill>
                  <a:srgbClr val="F4EFFC"/>
                </a:solidFill>
                <a:latin typeface="Segoe UI"/>
                <a:ea typeface="Segoe UI"/>
              </a:rPr>
              <a:t>Fred Chong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4279392"/>
            <a:ext cx="177393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Webtvasia CEO / MCN Advisor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6692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>
                <a:solidFill>
                  <a:srgbClr val="7A6F96"/>
                </a:solidFill>
                <a:latin typeface="Segoe UI"/>
                <a:ea typeface="Segoe UI"/>
              </a:rPr>
              <a:t>Full team bios and advisor / partner list available on request.</a:t>
            </a:r>
          </a:p>
        </p:txBody>
      </p:sp>
      <p:pic>
        <p:nvPicPr>
          <p:cNvPr id="32" name="Picture 31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669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8696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>
                <a:solidFill>
                  <a:srgbClr val="F4EFFC"/>
                </a:solidFill>
                <a:latin typeface="Segoe UI"/>
                <a:ea typeface="Segoe UI"/>
              </a:rPr>
              <a:t>Raising US$2M · for 20%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0">
                <a:solidFill>
                  <a:srgbClr val="A99FC0"/>
                </a:solidFill>
                <a:latin typeface="Segoe UI"/>
                <a:ea typeface="Segoe UI"/>
              </a:rPr>
              <a:t>US$10M post-money; runway of 18 months to prove the dual-engine loop and reach first-stage scale.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2148840"/>
          <a:ext cx="429768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783080" y="3794760"/>
            <a:ext cx="2103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1">
                <a:solidFill>
                  <a:srgbClr val="F4EFFC"/>
                </a:solidFill>
                <a:latin typeface="Space Grotesk"/>
                <a:ea typeface="Segoe UI"/>
              </a:rPr>
              <a:t>US$2M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>
                <a:solidFill>
                  <a:srgbClr val="A99FC0"/>
                </a:solidFill>
                <a:latin typeface="Segoe UI"/>
                <a:ea typeface="Segoe UI"/>
              </a:rPr>
              <a:t>total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103120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41848" y="2276856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8B5CF6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194560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Segoe UI"/>
                <a:ea typeface="Segoe U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4871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Team, multi-country offices, compliance &amp; 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76856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8B5CF6"/>
                </a:solidFill>
                <a:latin typeface="Segoe UI"/>
                <a:ea typeface="Segoe UI"/>
              </a:rPr>
              <a:t>US$400K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2889503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41848" y="3063239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22D3EE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980944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Segoe UI"/>
                <a:ea typeface="Segoe UI"/>
              </a:rPr>
              <a:t>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273551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oneIP.ai models + oneIP.io 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0" y="3063239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22D3EE"/>
                </a:solidFill>
                <a:latin typeface="Segoe UI"/>
                <a:ea typeface="Segoe UI"/>
              </a:rPr>
              <a:t>US$400K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49240" y="3675887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8" y="3849624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EC4899"/>
                </a:solidFill>
                <a:latin typeface="Space Grotesk"/>
                <a:ea typeface="Segoe UI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767327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Segoe UI"/>
                <a:ea typeface="Segoe UI"/>
              </a:rPr>
              <a:t>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059935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User growth, brand &amp; community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3849624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EC4899"/>
                </a:solidFill>
                <a:latin typeface="Segoe UI"/>
                <a:ea typeface="Segoe UI"/>
              </a:rPr>
              <a:t>US$600K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462272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4636008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FB7185"/>
                </a:solidFill>
                <a:latin typeface="Space Grotesk"/>
                <a:ea typeface="Segoe U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553712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Segoe UI"/>
                <a:ea typeface="Segoe UI"/>
              </a:rPr>
              <a:t>KOL · brand · supplier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84632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KOL signing, brand &amp; supply deals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4636008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FB7185"/>
                </a:solidFill>
                <a:latin typeface="Segoe UI"/>
                <a:ea typeface="Segoe UI"/>
              </a:rPr>
              <a:t>US$400K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5248656"/>
            <a:ext cx="6172200" cy="713232"/>
          </a:xfrm>
          <a:prstGeom prst="roundRect">
            <a:avLst>
              <a:gd name="adj" fmla="val 12000"/>
            </a:avLst>
          </a:prstGeom>
          <a:solidFill>
            <a:srgbClr val="150E26"/>
          </a:solidFill>
          <a:ln w="12700">
            <a:solidFill>
              <a:srgbClr val="2A2140"/>
            </a:solidFill>
          </a:ln>
          <a:effectLst>
            <a:outerShdw blurRad="254000" dist="88900" dir="5400000" rotWithShape="0">
              <a:srgbClr val="00000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1848" y="5422392"/>
            <a:ext cx="1097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100" b="1">
                <a:solidFill>
                  <a:srgbClr val="34D399"/>
                </a:solidFill>
                <a:latin typeface="Space Grotesk"/>
                <a:ea typeface="Segoe UI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34009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>
                <a:solidFill>
                  <a:srgbClr val="F4EFFC"/>
                </a:solidFill>
                <a:latin typeface="Segoe UI"/>
                <a:ea typeface="Segoe UI"/>
              </a:rPr>
              <a:t>Reserve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5632704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0">
                <a:solidFill>
                  <a:srgbClr val="A99FC0"/>
                </a:solidFill>
                <a:latin typeface="Segoe UI"/>
                <a:ea typeface="Segoe UI"/>
              </a:rPr>
              <a:t>Buffer for contingencies &amp; opportunities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5422392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50" b="1">
                <a:solidFill>
                  <a:srgbClr val="34D399"/>
                </a:solidFill>
                <a:latin typeface="Segoe UI"/>
                <a:ea typeface="Segoe UI"/>
              </a:rPr>
              <a:t>US$200K</a:t>
            </a:r>
          </a:p>
        </p:txBody>
      </p:sp>
      <p:pic>
        <p:nvPicPr>
          <p:cNvPr id="33" name="Picture 32" descr="logo_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400800"/>
            <a:ext cx="301752" cy="30175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24128" y="6400800"/>
            <a:ext cx="4572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>
                <a:solidFill>
                  <a:srgbClr val="A99FC0"/>
                </a:solidFill>
                <a:latin typeface="Space Grotesk"/>
                <a:ea typeface="Segoe UI"/>
              </a:rPr>
              <a:t>oneIP.io</a:t>
            </a:r>
            <a:r>
              <a:rPr sz="1000" b="0">
                <a:solidFill>
                  <a:srgbClr val="7A6F96"/>
                </a:solidFill>
                <a:latin typeface="Segoe UI"/>
                <a:ea typeface="Segoe UI"/>
              </a:rPr>
              <a:t>  ·  Pitch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00800"/>
            <a:ext cx="11887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>
                <a:solidFill>
                  <a:srgbClr val="7A6F96"/>
                </a:solidFill>
                <a:latin typeface="Space Grotesk"/>
                <a:ea typeface="Segoe U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8686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spc="240">
                <a:solidFill>
                  <a:srgbClr val="22D3EE"/>
                </a:solidFill>
                <a:latin typeface="Space Grotesk"/>
                <a:ea typeface="Segoe UI"/>
              </a:rP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554480"/>
            <a:ext cx="8046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4EFFC"/>
                </a:solidFill>
                <a:latin typeface="Segoe UI"/>
                <a:ea typeface="Segoe UI"/>
              </a:rPr>
              <a:t>Give every unique IP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4EFFC"/>
                </a:solidFill>
                <a:latin typeface="Segoe UI"/>
                <a:ea typeface="Segoe UI"/>
              </a:rPr>
              <a:t>its own on-chain economy.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33756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A99FC0"/>
                </a:solidFill>
                <a:latin typeface="Segoe UI"/>
                <a:ea typeface="Segoe UI"/>
              </a:rPr>
              <a:t>AI replaced everything copyable;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>
                <a:solidFill>
                  <a:srgbClr val="A99FC0"/>
                </a:solidFill>
                <a:latin typeface="Segoe UI"/>
                <a:ea typeface="Segoe UI"/>
              </a:rPr>
              <a:t>OneIP turns the uncopyable — people &amp; fan emotion — into real assets.</a:t>
            </a:r>
          </a:p>
        </p:txBody>
      </p:sp>
      <p:pic>
        <p:nvPicPr>
          <p:cNvPr id="6" name="Picture 5" descr="logo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34840"/>
            <a:ext cx="960120" cy="960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00784" y="4434840"/>
            <a:ext cx="6858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>
                <a:solidFill>
                  <a:srgbClr val="22D3EE"/>
                </a:solidFill>
                <a:latin typeface="Space Grotesk"/>
                <a:ea typeface="Segoe UI"/>
              </a:rPr>
              <a:t>n</a:t>
            </a:r>
            <a:r>
              <a:rPr sz="4600" b="1">
                <a:solidFill>
                  <a:srgbClr val="22D3EE"/>
                </a:solidFill>
                <a:latin typeface="Space Grotesk"/>
                <a:ea typeface="Segoe UI"/>
              </a:rPr>
              <a:t>e</a:t>
            </a:r>
            <a:r>
              <a:rPr sz="4600" b="1">
                <a:solidFill>
                  <a:srgbClr val="8B5CF6"/>
                </a:solidFill>
                <a:latin typeface="Space Grotesk"/>
                <a:ea typeface="Segoe UI"/>
              </a:rPr>
              <a:t>I</a:t>
            </a:r>
            <a:r>
              <a:rPr sz="4600" b="1">
                <a:solidFill>
                  <a:srgbClr val="EC4899"/>
                </a:solidFill>
                <a:latin typeface="Space Grotesk"/>
                <a:ea typeface="Segoe UI"/>
              </a:rPr>
              <a:t>P</a:t>
            </a:r>
            <a:r>
              <a:rPr sz="4600" b="1">
                <a:solidFill>
                  <a:srgbClr val="EC4899"/>
                </a:solidFill>
                <a:latin typeface="Space Grotesk"/>
                <a:ea typeface="Segoe UI"/>
              </a:rPr>
              <a:t>.</a:t>
            </a:r>
            <a:r>
              <a:rPr sz="4600" b="1">
                <a:solidFill>
                  <a:srgbClr val="F472B6"/>
                </a:solidFill>
                <a:latin typeface="Space Grotesk"/>
                <a:ea typeface="Segoe UI"/>
              </a:rPr>
              <a:t>i</a:t>
            </a:r>
            <a:r>
              <a:rPr sz="4600" b="1">
                <a:solidFill>
                  <a:srgbClr val="FB7185"/>
                </a:solidFill>
                <a:latin typeface="Space Grotesk"/>
                <a:ea typeface="Segoe UI"/>
              </a:rPr>
              <a:t>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5321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22D3EE"/>
                </a:solidFill>
                <a:latin typeface="Segoe UI"/>
                <a:ea typeface="Segoe UI"/>
              </a:rPr>
              <a:t>Launch IP · Connect Fans · Co-create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43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>
                <a:solidFill>
                  <a:srgbClr val="F472B6"/>
                </a:solidFill>
                <a:latin typeface="Space Grotesk"/>
                <a:ea typeface="Segoe UI"/>
              </a:rPr>
              <a:t>oneIP.io</a:t>
            </a:r>
            <a:r>
              <a:rPr sz="1400" b="0">
                <a:solidFill>
                  <a:srgbClr val="7A6F96"/>
                </a:solidFill>
                <a:latin typeface="Space Grotesk"/>
                <a:ea typeface="Segoe UI"/>
              </a:rPr>
              <a:t>　/　</a:t>
            </a:r>
            <a:r>
              <a:rPr sz="1400" b="1">
                <a:solidFill>
                  <a:srgbClr val="22D3EE"/>
                </a:solidFill>
                <a:latin typeface="Space Grotesk"/>
                <a:ea typeface="Segoe UI"/>
              </a:rPr>
              <a:t>oneIP.ai</a:t>
            </a:r>
            <a:r>
              <a:rPr sz="1300" b="0">
                <a:solidFill>
                  <a:srgbClr val="A99FC0"/>
                </a:solidFill>
                <a:latin typeface="Space Grotesk"/>
                <a:ea typeface="Segoe UI"/>
              </a:rPr>
              <a:t>　　bossses001@gmail.com</a:t>
            </a:r>
          </a:p>
        </p:txBody>
      </p:sp>
      <p:pic>
        <p:nvPicPr>
          <p:cNvPr id="10" name="Picture 9" descr="on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783080"/>
            <a:ext cx="3200400" cy="386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
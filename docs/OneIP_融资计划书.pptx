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A99FC0"/>
                </a:solidFill>
                <a:latin typeface="Microsoft YaHei"/>
              </a:rPr>
              <a:t>营收增长预测（示意）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营收预测 (万美金)</c:v>
                </c:pt>
              </c:strCache>
            </c:strRef>
          </c:tx>
          <c:spPr>
            <a:solidFill>
              <a:srgbClr val="8B5CF6"/>
            </a:solidFill>
          </c:spPr>
          <c:cat>
            <c:strRef>
              <c:f>Sheet1!$A$2:$A$4</c:f>
              <c:strCache>
                <c:ptCount val="3"/>
                <c:pt idx="0">
                  <c:v>Y1</c:v>
                </c:pt>
                <c:pt idx="1">
                  <c:v>Y2</c:v>
                </c:pt>
                <c:pt idx="2">
                  <c:v>Y3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480</c:v>
                </c:pt>
                <c:pt idx="2">
                  <c:v>1500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F4EFFC"/>
                  </a:solidFill>
                  <a:latin typeface="Space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99FC0"/>
                </a:solidFill>
                <a:latin typeface="Space Grotesk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2A214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99FC0"/>
                </a:solidFill>
                <a:latin typeface="Space Grotesk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A99FC0"/>
                </a:solidFill>
                <a:latin typeface="Microsoft YaHei"/>
              </a:rPr>
              <a:t>平台年收入预测（规模化情景）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平台年收入 (万美金)</c:v>
                </c:pt>
              </c:strCache>
            </c:strRef>
          </c:tx>
          <c:dPt>
            <c:idx val="0"/>
            <c:spPr>
              <a:solidFill>
                <a:srgbClr val="8B5CF6"/>
              </a:solidFill>
            </c:spPr>
          </c:dPt>
          <c:dPt>
            <c:idx val="1"/>
            <c:spPr>
              <a:solidFill>
                <a:srgbClr val="EC4899"/>
              </a:solidFill>
            </c:spPr>
          </c:dPt>
          <c:dPt>
            <c:idx val="2"/>
            <c:spPr>
              <a:solidFill>
                <a:srgbClr val="22D3EE"/>
              </a:solidFill>
            </c:spPr>
          </c:dPt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</c:v>
                </c:pt>
                <c:pt idx="1">
                  <c:v>2500</c:v>
                </c:pt>
                <c:pt idx="2">
                  <c:v>15000</c:v>
                </c:pt>
              </c:numCache>
            </c:numRef>
          </c:val>
        </c:ser>
        <c:dLbls>
          <c:numFmt formatCode="#,##0&quot;万&quot;" sourceLinked="0"/>
          <c:txPr>
            <a:bodyPr/>
            <a:lstStyle/>
            <a:p>
              <a:pPr>
                <a:defRPr sz="1200" b="1">
                  <a:solidFill>
                    <a:srgbClr val="F4EFFC"/>
                  </a:solidFill>
                  <a:latin typeface="Space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99FC0"/>
                </a:solidFill>
                <a:latin typeface="Space Grotesk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2A214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99FC0"/>
                </a:solidFill>
                <a:latin typeface="Space Grotesk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资金用途</c:v>
                </c:pt>
              </c:strCache>
            </c:strRef>
          </c:tx>
          <c:dPt>
            <c:idx val="0"/>
            <c:spPr>
              <a:solidFill>
                <a:srgbClr val="8B5CF6"/>
              </a:solidFill>
              <a:ln w="31750">
                <a:solidFill>
                  <a:srgbClr val="080510"/>
                </a:solidFill>
              </a:ln>
            </c:spPr>
          </c:dPt>
          <c:dPt>
            <c:idx val="1"/>
            <c:spPr>
              <a:solidFill>
                <a:srgbClr val="22D3EE"/>
              </a:solidFill>
              <a:ln w="31750">
                <a:solidFill>
                  <a:srgbClr val="080510"/>
                </a:solidFill>
              </a:ln>
            </c:spPr>
          </c:dPt>
          <c:dPt>
            <c:idx val="2"/>
            <c:spPr>
              <a:solidFill>
                <a:srgbClr val="EC4899"/>
              </a:solidFill>
              <a:ln w="31750">
                <a:solidFill>
                  <a:srgbClr val="080510"/>
                </a:solidFill>
              </a:ln>
            </c:spPr>
          </c:dPt>
          <c:dPt>
            <c:idx val="3"/>
            <c:spPr>
              <a:solidFill>
                <a:srgbClr val="FB7185"/>
              </a:solidFill>
              <a:ln w="31750">
                <a:solidFill>
                  <a:srgbClr val="080510"/>
                </a:solidFill>
              </a:ln>
            </c:spPr>
          </c:dPt>
          <c:dPt>
            <c:idx val="4"/>
            <c:spPr>
              <a:solidFill>
                <a:srgbClr val="34D399"/>
              </a:solidFill>
              <a:ln w="31750">
                <a:solidFill>
                  <a:srgbClr val="080510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运营</c:v>
                </c:pt>
                <c:pt idx="1">
                  <c:v>开发</c:v>
                </c:pt>
                <c:pt idx="2">
                  <c:v>市场推广</c:v>
                </c:pt>
                <c:pt idx="3">
                  <c:v>网红·品牌·供应商</c:v>
                </c:pt>
                <c:pt idx="4">
                  <c:v>储备资金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30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  <a:latin typeface="Space Grotesk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数据来源（行业预测 / 已发生趋势，2024–2026）：</a:t>
            </a:r>
          </a:p>
          <a:p>
            <a:r>
              <a:t>• AI 全球经济价值：IDC 预测 AI 到 2030 为全球经济贡献约 19.9 万亿美元；本页取核心直接贡献口径 $3.2T→$4.9T，年增约 25–30% CAGR。</a:t>
            </a:r>
          </a:p>
          <a:p>
            <a:r>
              <a:t>  Axios/IDC: https://www.axios.com/2024/09/17/ai-global-economy-idc-2030</a:t>
            </a:r>
          </a:p>
          <a:p>
            <a:r>
              <a:t>• 企业 AI 使用率 / AI Agent 普及：Stanford AI Index (HAI)。https://hai.stanford.edu/ai-index</a:t>
            </a:r>
          </a:p>
          <a:p>
            <a:r>
              <a:t>• 企业员工减少 / AI 可自动化岗位：McKinsey、WEF 估 20–35% 工作可被自动化；Goldman Sachs 估约 3 亿全职岗位受影响。为综合机构预测区间，非官方统计。</a:t>
            </a:r>
          </a:p>
          <a:p>
            <a:r>
              <a:t>  WEF: https://www.businessinsider.com/wef-sees-4-ai-futures-for-jobs-by-2030-only-one-limits-disruption-2026-1</a:t>
            </a:r>
          </a:p>
          <a:p>
            <a:r>
              <a:t>  Goldman/Investopedia: https://www.investopedia.com/if-you-lose-your-job-to-a-i-the-setback-might-be-permanent-11945756</a:t>
            </a:r>
          </a:p>
          <a:p>
            <a:r>
              <a:t>• 毕业生 / 初级岗位：Reuters 报道中国企业减少毕业生招聘、AI 取代部分初级岗位；Business Insider 指出各产业差异大。</a:t>
            </a:r>
          </a:p>
          <a:p>
            <a:r>
              <a:t>  Reuters: https://www.reuters.com/business/world-at-work/china-inc-deploys-quiet-layoffs-beijing-promotes-ai-adoption-2026-06-10/</a:t>
            </a:r>
          </a:p>
          <a:p>
            <a:r>
              <a:t>  BI: https://www.businessinsider.com/the-ai-layoffs-story-just-got-more-complicated-2026-6</a:t>
            </a:r>
          </a:p>
          <a:p>
            <a:r>
              <a:t>• 创作者经济：Goldman Sachs 估 2027 接近 $500B；越来越多专业人士（医生/律师/会计/老师/地产/保险）经营个人 IP，AI 大幅降低制作成本。</a:t>
            </a:r>
          </a:p>
          <a:p>
            <a:r>
              <a:t>  https://en.wikipedia.org/wiki/Creator_economy</a:t>
            </a:r>
          </a:p>
          <a:p>
            <a:r>
              <a:t>注：数字为区间/预测，用于说明结构性方向，非业绩承诺。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3.xml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网红 IP 发币社交平台 · 融资计划书 2026</a:t>
            </a:r>
          </a:p>
        </p:txBody>
      </p:sp>
      <p:pic>
        <p:nvPicPr>
          <p:cNvPr id="4" name="Picture 3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24128"/>
            <a:ext cx="1234440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9384" y="1024128"/>
            <a:ext cx="68580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6600" b="1">
                <a:solidFill>
                  <a:srgbClr val="22D3EE"/>
                </a:solidFill>
                <a:latin typeface="Space Grotesk"/>
                <a:ea typeface="Microsoft YaHei"/>
              </a:rPr>
              <a:t>n</a:t>
            </a:r>
            <a:r>
              <a:rPr sz="6600" b="1">
                <a:solidFill>
                  <a:srgbClr val="22D3EE"/>
                </a:solidFill>
                <a:latin typeface="Space Grotesk"/>
                <a:ea typeface="Microsoft YaHei"/>
              </a:rPr>
              <a:t>e</a:t>
            </a:r>
            <a:r>
              <a:rPr sz="6600" b="1">
                <a:solidFill>
                  <a:srgbClr val="8B5CF6"/>
                </a:solidFill>
                <a:latin typeface="Space Grotesk"/>
                <a:ea typeface="Microsoft YaHei"/>
              </a:rPr>
              <a:t>I</a:t>
            </a:r>
            <a:r>
              <a:rPr sz="6600" b="1">
                <a:solidFill>
                  <a:srgbClr val="EC4899"/>
                </a:solidFill>
                <a:latin typeface="Space Grotesk"/>
                <a:ea typeface="Microsoft YaHei"/>
              </a:rPr>
              <a:t>P</a:t>
            </a:r>
            <a:r>
              <a:rPr sz="6600" b="1">
                <a:solidFill>
                  <a:srgbClr val="EC4899"/>
                </a:solidFill>
                <a:latin typeface="Space Grotesk"/>
                <a:ea typeface="Microsoft YaHei"/>
              </a:rPr>
              <a:t>.</a:t>
            </a:r>
            <a:r>
              <a:rPr sz="6600" b="1">
                <a:solidFill>
                  <a:srgbClr val="F472B6"/>
                </a:solidFill>
                <a:latin typeface="Space Grotesk"/>
                <a:ea typeface="Microsoft YaHei"/>
              </a:rPr>
              <a:t>i</a:t>
            </a:r>
            <a:r>
              <a:rPr sz="6600" b="1">
                <a:solidFill>
                  <a:srgbClr val="FB7185"/>
                </a:solidFill>
                <a:latin typeface="Space Grotesk"/>
                <a:ea typeface="Microsoft YaHei"/>
              </a:rPr>
              <a:t>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86000"/>
            <a:ext cx="7315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22D3EE"/>
                </a:solidFill>
                <a:latin typeface="Space Grotesk"/>
                <a:ea typeface="Microsoft YaHei"/>
              </a:rPr>
              <a:t>OneIP</a:t>
            </a:r>
            <a:r>
              <a:rPr sz="3300" b="0">
                <a:solidFill>
                  <a:srgbClr val="7A6F96"/>
                </a:solidFill>
                <a:latin typeface="Space Grotesk"/>
                <a:ea typeface="Microsoft YaHei"/>
              </a:rPr>
              <a:t> + </a:t>
            </a:r>
            <a:r>
              <a:rPr sz="3300" b="1">
                <a:solidFill>
                  <a:srgbClr val="F472B6"/>
                </a:solidFill>
                <a:latin typeface="Space Grotesk"/>
                <a:ea typeface="Microsoft YaHei"/>
              </a:rPr>
              <a:t>OPC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44368"/>
            <a:ext cx="795527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EFFC"/>
                </a:solidFill>
                <a:latin typeface="Space Grotesk"/>
                <a:ea typeface="Microsoft YaHei"/>
              </a:rPr>
              <a:t>OPC = One Personal Company</a:t>
            </a:r>
            <a:r>
              <a:rPr sz="1400" b="0">
                <a:solidFill>
                  <a:srgbClr val="A99FC0"/>
                </a:solidFill>
                <a:latin typeface="Microsoft YaHei"/>
                <a:ea typeface="Microsoft YaHei"/>
              </a:rPr>
              <a:t>　一人即一家公司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56432"/>
            <a:ext cx="795527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472B6"/>
                </a:solidFill>
                <a:latin typeface="Microsoft YaHei"/>
                <a:ea typeface="Microsoft YaHei"/>
              </a:rPr>
              <a:t>品牌 IP 一键发币</a:t>
            </a:r>
            <a:r>
              <a:rPr sz="1800" b="0">
                <a:solidFill>
                  <a:srgbClr val="7A6F96"/>
                </a:solidFill>
                <a:latin typeface="Microsoft YaHei"/>
                <a:ea typeface="Microsoft YaHei"/>
              </a:rPr>
              <a:t> · </a:t>
            </a:r>
            <a:r>
              <a:rPr sz="1800" b="1">
                <a:solidFill>
                  <a:srgbClr val="22D3EE"/>
                </a:solidFill>
                <a:latin typeface="Microsoft YaHei"/>
                <a:ea typeface="Microsoft YaHei"/>
              </a:rPr>
              <a:t>链接粉丝</a:t>
            </a:r>
            <a:r>
              <a:rPr sz="1800" b="0">
                <a:solidFill>
                  <a:srgbClr val="7A6F96"/>
                </a:solidFill>
                <a:latin typeface="Microsoft YaHei"/>
                <a:ea typeface="Microsoft YaHei"/>
              </a:rPr>
              <a:t> · </a:t>
            </a:r>
            <a:r>
              <a:rPr sz="1800" b="1">
                <a:solidFill>
                  <a:srgbClr val="8B5CF6"/>
                </a:solidFill>
                <a:latin typeface="Microsoft YaHei"/>
                <a:ea typeface="Microsoft YaHei"/>
              </a:rPr>
              <a:t>价值共创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279392"/>
            <a:ext cx="1755648" cy="548640"/>
          </a:xfrm>
          <a:prstGeom prst="roundRect">
            <a:avLst>
              <a:gd name="adj" fmla="val 32000"/>
            </a:avLst>
          </a:prstGeom>
          <a:solidFill>
            <a:srgbClr val="1B1232"/>
          </a:solidFill>
          <a:ln w="1397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79392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22D3EE"/>
                </a:solidFill>
                <a:latin typeface="Space Grotesk"/>
                <a:ea typeface="Microsoft YaHe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4279392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发币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4279392"/>
            <a:ext cx="1755648" cy="548640"/>
          </a:xfrm>
          <a:prstGeom prst="roundRect">
            <a:avLst>
              <a:gd name="adj" fmla="val 32000"/>
            </a:avLst>
          </a:prstGeom>
          <a:solidFill>
            <a:srgbClr val="1B1232"/>
          </a:solidFill>
          <a:ln w="1397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4279392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8B5CF6"/>
                </a:solidFill>
                <a:latin typeface="Space Grotesk"/>
                <a:ea typeface="Microsoft YaHei"/>
              </a:rPr>
              <a:t>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279392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社交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0288" y="4279392"/>
            <a:ext cx="1755648" cy="548640"/>
          </a:xfrm>
          <a:prstGeom prst="roundRect">
            <a:avLst>
              <a:gd name="adj" fmla="val 32000"/>
            </a:avLst>
          </a:prstGeom>
          <a:solidFill>
            <a:srgbClr val="1B1232"/>
          </a:solidFill>
          <a:ln w="1397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4279392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EC4899"/>
                </a:solidFill>
                <a:latin typeface="Space Grotesk"/>
                <a:ea typeface="Microsoft YaHei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4279392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共创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28816" y="4279392"/>
            <a:ext cx="1755648" cy="548640"/>
          </a:xfrm>
          <a:prstGeom prst="roundRect">
            <a:avLst>
              <a:gd name="adj" fmla="val 32000"/>
            </a:avLst>
          </a:prstGeom>
          <a:solidFill>
            <a:srgbClr val="1B1232"/>
          </a:solidFill>
          <a:ln w="1397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9984" y="4279392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B7185"/>
                </a:solidFill>
                <a:latin typeface="Space Grotesk"/>
                <a:ea typeface="Microsoft YaHei"/>
              </a:rPr>
              <a:t>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4279392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激励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40680"/>
            <a:ext cx="2331720" cy="868680"/>
          </a:xfrm>
          <a:prstGeom prst="roundRect">
            <a:avLst>
              <a:gd name="adj" fmla="val 22000"/>
            </a:avLst>
          </a:prstGeom>
          <a:solidFill>
            <a:srgbClr val="1B1232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59612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融资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587044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22D3EE"/>
                </a:solidFill>
                <a:latin typeface="Space Grotesk"/>
                <a:ea typeface="Microsoft YaHei"/>
              </a:rPr>
              <a:t>200 万美金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00984" y="5440680"/>
            <a:ext cx="2331720" cy="868680"/>
          </a:xfrm>
          <a:prstGeom prst="roundRect">
            <a:avLst>
              <a:gd name="adj" fmla="val 22000"/>
            </a:avLst>
          </a:prstGeom>
          <a:solidFill>
            <a:srgbClr val="1B1232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7016" y="559612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让出原始股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7016" y="587044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F472B6"/>
                </a:solidFill>
                <a:latin typeface="Space Grotesk"/>
                <a:ea typeface="Microsoft YaHei"/>
              </a:rPr>
              <a:t>20%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88736" y="5440680"/>
            <a:ext cx="2331720" cy="868680"/>
          </a:xfrm>
          <a:prstGeom prst="roundRect">
            <a:avLst>
              <a:gd name="adj" fmla="val 22000"/>
            </a:avLst>
          </a:prstGeom>
          <a:solidFill>
            <a:srgbClr val="1B1232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559612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投后估值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587044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8B5CF6"/>
                </a:solidFill>
                <a:latin typeface="Space Grotesk"/>
                <a:ea typeface="Microsoft YaHei"/>
              </a:rPr>
              <a:t>1,000 万美金</a:t>
            </a:r>
          </a:p>
        </p:txBody>
      </p:sp>
      <p:pic>
        <p:nvPicPr>
          <p:cNvPr id="30" name="Picture 29" descr="on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371600"/>
            <a:ext cx="3200400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3035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MEGATREND · 结构性趋势（行业预测）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F4EFFC"/>
                </a:solidFill>
                <a:latin typeface="Microsoft YaHei"/>
                <a:ea typeface="Microsoft YaHei"/>
              </a:rPr>
              <a:t>AI 越强，个人 IP 越值钱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0817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A99FC0"/>
                </a:solidFill>
                <a:latin typeface="Microsoft YaHei"/>
                <a:ea typeface="Microsoft YaHei"/>
              </a:rPr>
              <a:t>机构预测（IDC · Stanford HAI · Goldman Sachs · WEF · McKinsey）：AI 经济狂飙、岗位重构，个人品牌成为出口。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Microsoft YaHei"/>
                <a:ea typeface="Microsoft YaHei"/>
              </a:rPr>
              <a:t>指标 · 行业预测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Microsoft YaHei"/>
              </a:rPr>
              <a:t>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Microsoft YaHei"/>
              </a:rPr>
              <a:t>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Microsoft YaHei"/>
              </a:rPr>
              <a:t>2029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Microsoft YaHei"/>
              </a:rPr>
              <a:t>2030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66543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26771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066543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Microsoft YaHei"/>
                <a:ea typeface="Microsoft YaHei"/>
              </a:rPr>
              <a:t>AI 全球经济价值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$3.2T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$3.8T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$4.4T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22D3EE"/>
                </a:solidFill>
                <a:latin typeface="Space Grotesk"/>
                <a:ea typeface="Microsoft YaHei"/>
              </a:rPr>
              <a:t>$4.9T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06039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2807208"/>
            <a:ext cx="100584" cy="10058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2606039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Microsoft YaHei"/>
                <a:ea typeface="Microsoft YaHei"/>
              </a:rPr>
              <a:t>AI 市场年成长 (CAGR)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27%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8B5CF6"/>
                </a:solidFill>
                <a:latin typeface="Space Grotesk"/>
                <a:ea typeface="Microsoft YaHei"/>
              </a:rPr>
              <a:t>30%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145535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3346703"/>
            <a:ext cx="100584" cy="100584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3145535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Microsoft YaHei"/>
                <a:ea typeface="Microsoft YaHei"/>
              </a:rPr>
              <a:t>企业员工减少 (预测)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5–10%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10–15%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15–20%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EC4899"/>
                </a:solidFill>
                <a:latin typeface="Space Grotesk"/>
                <a:ea typeface="Microsoft YaHei"/>
              </a:rPr>
              <a:t>20–30%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685031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" y="3886199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3685031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Microsoft YaHei"/>
                <a:ea typeface="Microsoft YaHei"/>
              </a:rPr>
              <a:t>AI 可自动化岗位比例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25%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30%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B7185"/>
                </a:solidFill>
                <a:latin typeface="Space Grotesk"/>
                <a:ea typeface="Microsoft YaHei"/>
              </a:rPr>
              <a:t>35%+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224527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7240" y="4425695"/>
            <a:ext cx="100584" cy="100584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4224527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Microsoft YaHei"/>
                <a:ea typeface="Microsoft YaHei"/>
              </a:rPr>
              <a:t>创作者经济规模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$400B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$440B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$470B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6920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472B6"/>
                </a:solidFill>
                <a:latin typeface="Space Grotesk"/>
                <a:ea typeface="Microsoft YaHei"/>
              </a:rPr>
              <a:t>$500B+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764023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7240" y="4965191"/>
            <a:ext cx="100584" cy="100584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4764023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Microsoft YaHei"/>
                <a:ea typeface="Microsoft YaHei"/>
              </a:rPr>
              <a:t>AI 技能需求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很高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Microsoft YaHei"/>
              </a:rPr>
              <a:t>标配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A855F7"/>
                </a:solidFill>
                <a:latin typeface="Space Grotesk"/>
                <a:ea typeface="Microsoft YaHei"/>
              </a:rPr>
              <a:t>必备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349240"/>
            <a:ext cx="11091672" cy="658368"/>
          </a:xfrm>
          <a:prstGeom prst="roundRect">
            <a:avLst>
              <a:gd name="adj" fmla="val 16000"/>
            </a:avLst>
          </a:prstGeom>
          <a:solidFill>
            <a:srgbClr val="1B1232"/>
          </a:solidFill>
          <a:ln w="1651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5349240"/>
            <a:ext cx="10515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>
                <a:solidFill>
                  <a:srgbClr val="22D3EE"/>
                </a:solidFill>
                <a:latin typeface="Microsoft YaHei"/>
                <a:ea typeface="Microsoft YaHei"/>
              </a:rPr>
              <a:t>专业人士转型自媒体（Creator Economy）：</a:t>
            </a:r>
            <a:r>
              <a:rPr sz="1150" b="0">
                <a:solidFill>
                  <a:srgbClr val="F4EFFC"/>
                </a:solidFill>
                <a:latin typeface="Microsoft YaHei"/>
                <a:ea typeface="Microsoft YaHei"/>
              </a:rPr>
              <a:t>医生 · 律师 · 会计 · 老师 · 地产 · 保险 纷纷经营个人 IP —— 正是 OneIP 的用户。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071616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7A6F96"/>
                </a:solidFill>
                <a:latin typeface="Microsoft YaHei"/>
                <a:ea typeface="Microsoft YaHei"/>
              </a:rPr>
              <a:t>来源：IDC / Stanford AI Index / Goldman Sachs / WEF / McKinsey（2024–2026）；「企业员工减少」为综合机构预测区间，非官方统计。</a:t>
            </a:r>
          </a:p>
        </p:txBody>
      </p:sp>
      <p:pic>
        <p:nvPicPr>
          <p:cNvPr id="56" name="Picture 55" descr="logo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融资计划书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THE AI ERA · 时代背景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4EFFC"/>
                </a:solidFill>
                <a:latin typeface="Microsoft YaHei"/>
                <a:ea typeface="Microsoft YaHei"/>
              </a:rPr>
              <a:t>AI 正在重写每一条产业线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50" b="0">
                <a:solidFill>
                  <a:srgbClr val="A99FC0"/>
                </a:solidFill>
                <a:latin typeface="Microsoft YaHei"/>
                <a:ea typeface="Microsoft YaHei"/>
              </a:rPr>
              <a:t>AI 的进化速度超出人类想象，实体产业正被加速替代——而价值，正在向「无法被复制的东西」迁移。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31720"/>
            <a:ext cx="2670048" cy="333756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2642615"/>
            <a:ext cx="566928" cy="56692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697479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22D3EE"/>
                </a:solidFill>
                <a:latin typeface="Space Grotesk"/>
                <a:ea typeface="Microsoft YaHe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42900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50" b="1">
                <a:solidFill>
                  <a:srgbClr val="F4EFFC"/>
                </a:solidFill>
                <a:latin typeface="Microsoft YaHei"/>
                <a:ea typeface="Microsoft YaHei"/>
              </a:rPr>
              <a:t>进化超预期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904487"/>
            <a:ext cx="212140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>
                <a:solidFill>
                  <a:srgbClr val="A99FC0"/>
                </a:solidFill>
                <a:latin typeface="Microsoft YaHei"/>
                <a:ea typeface="Microsoft YaHei"/>
              </a:rPr>
              <a:t>AI 能力以月为单位迭代，远快于任何一次工业革命的节奏。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2331720"/>
            <a:ext cx="2670048" cy="333756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85616" y="2642615"/>
            <a:ext cx="566928" cy="56692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6" y="2697479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8B5CF6"/>
                </a:solidFill>
                <a:latin typeface="Space Grotesk"/>
                <a:ea typeface="Microsoft YaHei"/>
              </a:rPr>
              <a:t>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6" y="342900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50" b="1">
                <a:solidFill>
                  <a:srgbClr val="F4EFFC"/>
                </a:solidFill>
                <a:latin typeface="Microsoft YaHei"/>
                <a:ea typeface="Microsoft YaHei"/>
              </a:rPr>
              <a:t>产业全面引进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6" y="3904487"/>
            <a:ext cx="212140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>
                <a:solidFill>
                  <a:srgbClr val="A99FC0"/>
                </a:solidFill>
                <a:latin typeface="Microsoft YaHei"/>
                <a:ea typeface="Microsoft YaHei"/>
              </a:rPr>
              <a:t>客服、设计、文案、编程、客拓——岗位被一一接管。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331720"/>
            <a:ext cx="2670048" cy="333756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0256" y="2642615"/>
            <a:ext cx="566928" cy="56692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97479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EC4899"/>
                </a:solidFill>
                <a:latin typeface="Space Grotesk"/>
                <a:ea typeface="Microsoft YaHei"/>
              </a:rPr>
              <a:t>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342900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50" b="1">
                <a:solidFill>
                  <a:srgbClr val="F4EFFC"/>
                </a:solidFill>
                <a:latin typeface="Microsoft YaHei"/>
                <a:ea typeface="Microsoft YaHei"/>
              </a:rPr>
              <a:t>事业被取代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3904487"/>
            <a:ext cx="212140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>
                <a:solidFill>
                  <a:srgbClr val="A99FC0"/>
                </a:solidFill>
                <a:latin typeface="Microsoft YaHei"/>
                <a:ea typeface="Microsoft YaHei"/>
              </a:rPr>
              <a:t>越来越多人因 AI 失去当前职业，技能护城河快速蒸发。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2331720"/>
            <a:ext cx="2670048" cy="333756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54896" y="2642615"/>
            <a:ext cx="566928" cy="56692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4896" y="2697479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FB7185"/>
                </a:solidFill>
                <a:latin typeface="Space Grotesk"/>
                <a:ea typeface="Microsoft YaHei"/>
              </a:rPr>
              <a:t>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6" y="342900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50" b="1">
                <a:solidFill>
                  <a:srgbClr val="F4EFFC"/>
                </a:solidFill>
                <a:latin typeface="Microsoft YaHei"/>
                <a:ea typeface="Microsoft YaHei"/>
              </a:rPr>
              <a:t>价值在迁移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3904487"/>
            <a:ext cx="212140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>
                <a:solidFill>
                  <a:srgbClr val="A99FC0"/>
                </a:solidFill>
                <a:latin typeface="Microsoft YaHei"/>
                <a:ea typeface="Microsoft YaHei"/>
              </a:rPr>
              <a:t>可被复制的劳动趋于零成本；稀缺性成为唯一的溢价来源。</a:t>
            </a:r>
          </a:p>
        </p:txBody>
      </p:sp>
      <p:pic>
        <p:nvPicPr>
          <p:cNvPr id="26" name="Picture 2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融资计划书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THE INSIGHT · 不可被取代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4EFFC"/>
                </a:solidFill>
                <a:latin typeface="Microsoft YaHei"/>
                <a:ea typeface="Microsoft YaHei"/>
              </a:rPr>
              <a:t>唯独「人」和「粉丝」，AI 无法取代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5943600" cy="1783080"/>
          </a:xfrm>
          <a:prstGeom prst="roundRect">
            <a:avLst>
              <a:gd name="adj" fmla="val 8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167127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279400" dist="0" dir="5400000" rotWithShape="0">
              <a:srgbClr val="8B5CF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3055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F4EFFC"/>
                </a:solidFill>
                <a:latin typeface="Microsoft YaHei"/>
                <a:ea typeface="Microsoft YaHei"/>
              </a:rPr>
              <a:t>个人 IP / 自媒体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5440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Microsoft YaHei"/>
                <a:ea typeface="Microsoft YaHei"/>
              </a:rPr>
              <a:t>AI 只能辅助创作，无法成为「那个人」。个性、故事、信任——天然独一无二。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840479"/>
            <a:ext cx="5943600" cy="1783080"/>
          </a:xfrm>
          <a:prstGeom prst="roundRect">
            <a:avLst>
              <a:gd name="adj" fmla="val 8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4133087"/>
            <a:ext cx="201168" cy="201168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279400" dist="0" dir="5400000" rotWithShape="0">
              <a:srgbClr val="EC4899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4096511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F4EFFC"/>
                </a:solidFill>
                <a:latin typeface="Microsoft YaHei"/>
                <a:ea typeface="Microsoft YaHei"/>
              </a:rPr>
              <a:t>粉丝数据 / 粉丝情绪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709159"/>
            <a:ext cx="5440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Microsoft YaHei"/>
                <a:ea typeface="Microsoft YaHei"/>
              </a:rPr>
              <a:t>真实的关注与情感连接无法被生成。AI 是放大器，不是替代品。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874519"/>
            <a:ext cx="4617720" cy="3703320"/>
          </a:xfrm>
          <a:prstGeom prst="roundRect">
            <a:avLst>
              <a:gd name="adj" fmla="val 8000"/>
            </a:avLst>
          </a:prstGeom>
          <a:solidFill>
            <a:srgbClr val="1B1232"/>
          </a:solidFill>
          <a:ln w="1524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233172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4EFFC"/>
                </a:solidFill>
                <a:latin typeface="Microsoft YaHei"/>
                <a:ea typeface="Microsoft YaHei"/>
              </a:rPr>
              <a:t>一个 IP，一个品牌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4EFFC"/>
                </a:solidFill>
                <a:latin typeface="Microsoft YaHei"/>
                <a:ea typeface="Microsoft YaHei"/>
              </a:rPr>
              <a:t>粉丝情绪，产生了价值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6118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22D3EE"/>
                </a:solidFill>
                <a:latin typeface="Microsoft YaHei"/>
                <a:ea typeface="Microsoft YaHei"/>
              </a:rPr>
              <a:t>独一无二</a:t>
            </a:r>
          </a:p>
        </p:txBody>
      </p:sp>
      <p:pic>
        <p:nvPicPr>
          <p:cNvPr id="16" name="Picture 1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069080"/>
            <a:ext cx="841248" cy="8412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65592" y="4069080"/>
            <a:ext cx="3657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>
                <a:solidFill>
                  <a:srgbClr val="22D3EE"/>
                </a:solidFill>
                <a:latin typeface="Space Grotesk"/>
                <a:ea typeface="Microsoft YaHei"/>
              </a:rPr>
              <a:t>n</a:t>
            </a:r>
            <a:r>
              <a:rPr sz="3800" b="1">
                <a:solidFill>
                  <a:srgbClr val="22D3EE"/>
                </a:solidFill>
                <a:latin typeface="Space Grotesk"/>
                <a:ea typeface="Microsoft YaHei"/>
              </a:rPr>
              <a:t>e</a:t>
            </a:r>
            <a:r>
              <a:rPr sz="3800" b="1">
                <a:solidFill>
                  <a:srgbClr val="8B5CF6"/>
                </a:solidFill>
                <a:latin typeface="Space Grotesk"/>
                <a:ea typeface="Microsoft YaHei"/>
              </a:rPr>
              <a:t>I</a:t>
            </a:r>
            <a:r>
              <a:rPr sz="3800" b="1">
                <a:solidFill>
                  <a:srgbClr val="EC4899"/>
                </a:solidFill>
                <a:latin typeface="Space Grotesk"/>
                <a:ea typeface="Microsoft YaHei"/>
              </a:rPr>
              <a:t>P</a:t>
            </a:r>
            <a:r>
              <a:rPr sz="3800" b="1">
                <a:solidFill>
                  <a:srgbClr val="EC4899"/>
                </a:solidFill>
                <a:latin typeface="Space Grotesk"/>
                <a:ea typeface="Microsoft YaHei"/>
              </a:rPr>
              <a:t>.</a:t>
            </a:r>
            <a:r>
              <a:rPr sz="3800" b="1">
                <a:solidFill>
                  <a:srgbClr val="F472B6"/>
                </a:solidFill>
                <a:latin typeface="Space Grotesk"/>
                <a:ea typeface="Microsoft YaHei"/>
              </a:rPr>
              <a:t>i</a:t>
            </a:r>
            <a:r>
              <a:rPr sz="3800" b="1">
                <a:solidFill>
                  <a:srgbClr val="FB7185"/>
                </a:solidFill>
                <a:latin typeface="Space Grotesk"/>
                <a:ea typeface="Microsoft YaHei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507492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Microsoft YaHei"/>
                <a:ea typeface="Microsoft YaHei"/>
              </a:rPr>
              <a:t>把这份独一无二，变成可定价、可流通、可变现的资产。</a:t>
            </a:r>
          </a:p>
        </p:txBody>
      </p:sp>
      <p:pic>
        <p:nvPicPr>
          <p:cNvPr id="19" name="Picture 18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融资计划书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THE SOLUTION · 双引擎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4EFFC"/>
                </a:solidFill>
                <a:latin typeface="Microsoft YaHei"/>
                <a:ea typeface="Microsoft YaHei"/>
              </a:rPr>
              <a:t>OneIP：一个 IP 经济的双引擎闭环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5138928" cy="420624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1488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22D3EE"/>
                </a:solidFill>
                <a:latin typeface="Space Grotesk"/>
                <a:ea typeface="Microsoft YaHei"/>
              </a:rPr>
              <a:t>oneIP.ai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743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造 IP · 供给端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200400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Microsoft YaHei"/>
                <a:ea typeface="Microsoft YaHei"/>
              </a:rPr>
              <a:t>用 AI 把任何创作者 / KOL / 品牌，批量生产成可分发、可授权的数字 IP 资产。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45312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35254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F4EFFC"/>
                </a:solidFill>
                <a:latin typeface="Microsoft YaHei"/>
                <a:ea typeface="Microsoft YaHei"/>
              </a:rPr>
              <a:t>AI 数字分身 / IP 形象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928616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2803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F4EFFC"/>
                </a:solidFill>
                <a:latin typeface="Microsoft YaHei"/>
                <a:ea typeface="Microsoft YaHei"/>
              </a:rPr>
              <a:t>内容批量生产（图文 / 视频）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5404104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F4EFFC"/>
                </a:solidFill>
                <a:latin typeface="Microsoft YaHei"/>
                <a:ea typeface="Microsoft YaHei"/>
              </a:rPr>
              <a:t>标准化「IP 资产包」授权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874519"/>
            <a:ext cx="5138928" cy="420624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21488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72B6"/>
                </a:solidFill>
                <a:latin typeface="Space Grotesk"/>
                <a:ea typeface="Microsoft YaHei"/>
              </a:rPr>
              <a:t>oneIP.io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743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卖 IP · 流通端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00400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Microsoft YaHei"/>
                <a:ea typeface="Microsoft YaHei"/>
              </a:rPr>
              <a:t>基于 Solana 的一键发行与交易终端（pump.fun 式），让 IP 资产链上定价、流通、变现。</a:t>
            </a:r>
          </a:p>
        </p:txBody>
      </p:sp>
      <p:sp>
        <p:nvSpPr>
          <p:cNvPr id="19" name="Oval 18"/>
          <p:cNvSpPr/>
          <p:nvPr/>
        </p:nvSpPr>
        <p:spPr>
          <a:xfrm>
            <a:off x="6528816" y="4453128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3136" y="435254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F4EFFC"/>
                </a:solidFill>
                <a:latin typeface="Microsoft YaHei"/>
                <a:ea typeface="Microsoft YaHei"/>
              </a:rPr>
              <a:t>一键发行 IP / KOL 代币</a:t>
            </a:r>
          </a:p>
        </p:txBody>
      </p:sp>
      <p:sp>
        <p:nvSpPr>
          <p:cNvPr id="21" name="Oval 20"/>
          <p:cNvSpPr/>
          <p:nvPr/>
        </p:nvSpPr>
        <p:spPr>
          <a:xfrm>
            <a:off x="6528816" y="4928616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3136" y="482803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F4EFFC"/>
                </a:solidFill>
                <a:latin typeface="Microsoft YaHei"/>
                <a:ea typeface="Microsoft YaHei"/>
              </a:rPr>
              <a:t>pump.fun 式交易终端</a:t>
            </a:r>
          </a:p>
        </p:txBody>
      </p:sp>
      <p:sp>
        <p:nvSpPr>
          <p:cNvPr id="23" name="Oval 22"/>
          <p:cNvSpPr/>
          <p:nvPr/>
        </p:nvSpPr>
        <p:spPr>
          <a:xfrm>
            <a:off x="6528816" y="5404104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03136" y="53035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F4EFFC"/>
                </a:solidFill>
                <a:latin typeface="Microsoft YaHei"/>
                <a:ea typeface="Microsoft YaHei"/>
              </a:rPr>
              <a:t>手续费 + 流动性变现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7296" y="3657600"/>
            <a:ext cx="603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>
                <a:solidFill>
                  <a:srgbClr val="8B5CF6"/>
                </a:solidFill>
                <a:latin typeface="Space Grotesk"/>
                <a:ea typeface="Microsoft YaHei"/>
              </a:rPr>
              <a:t>↔</a:t>
            </a:r>
          </a:p>
        </p:txBody>
      </p:sp>
      <p:pic>
        <p:nvPicPr>
          <p:cNvPr id="26" name="Picture 25" descr="on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11480"/>
            <a:ext cx="1280160" cy="1546860"/>
          </a:xfrm>
          <a:prstGeom prst="rect">
            <a:avLst/>
          </a:prstGeom>
        </p:spPr>
      </p:pic>
      <p:pic>
        <p:nvPicPr>
          <p:cNvPr id="27" name="Picture 26" descr="logo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融资计划书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3035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BUSINESS MODEL · 双引擎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F4EFFC"/>
                </a:solidFill>
                <a:latin typeface="Microsoft YaHei"/>
                <a:ea typeface="Microsoft YaHei"/>
              </a:rPr>
              <a:t>双引擎商业模式：造 IP × 卖 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Microsoft YaHei"/>
                <a:ea typeface="Microsoft YaHei"/>
              </a:rPr>
              <a:t>oneIP.ai 造 IP 供给，oneIP.io 定价与变现——一套有真实资产支撑的 IP 经济闭环。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486400" cy="393192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22D3EE"/>
                </a:solidFill>
                <a:latin typeface="Space Grotesk"/>
                <a:ea typeface="Microsoft YaHei"/>
              </a:rPr>
              <a:t>oneIP.ai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造 IP · 供给端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313639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3044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Microsoft YaHei"/>
                <a:ea typeface="Microsoft YaHei"/>
              </a:rPr>
              <a:t>产品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337560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Microsoft YaHei"/>
                <a:ea typeface="Microsoft YaHei"/>
              </a:rPr>
              <a:t>AI 数字分身 · 内容批量生产 · IP 资产包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822191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37307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Microsoft YaHei"/>
                <a:ea typeface="Microsoft YaHei"/>
              </a:rPr>
              <a:t>客户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4023359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Microsoft YaHei"/>
                <a:ea typeface="Microsoft YaHei"/>
              </a:rPr>
              <a:t>KOL · 艺人 · 品牌 · MCN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50799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44165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Microsoft YaHei"/>
                <a:ea typeface="Microsoft YaHei"/>
              </a:rPr>
              <a:t>收入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4709159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Microsoft YaHei"/>
                <a:ea typeface="Microsoft YaHei"/>
              </a:rPr>
              <a:t>AI 订阅(SaaS) · 授权抽成 · 企业定制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519379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51023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Microsoft YaHei"/>
                <a:ea typeface="Microsoft YaHei"/>
              </a:rPr>
              <a:t>护城河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5394959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Microsoft YaHei"/>
                <a:ea typeface="Microsoft YaHei"/>
              </a:rPr>
              <a:t>IP 资产库飞轮 · 一致性模型微调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1920240"/>
            <a:ext cx="5486400" cy="393192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1031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F472B6"/>
                </a:solidFill>
                <a:latin typeface="Space Grotesk"/>
                <a:ea typeface="Microsoft YaHei"/>
              </a:rPr>
              <a:t>oneIP.io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6060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卖 IP · 流通端</a:t>
            </a:r>
          </a:p>
        </p:txBody>
      </p:sp>
      <p:sp>
        <p:nvSpPr>
          <p:cNvPr id="24" name="Oval 23"/>
          <p:cNvSpPr/>
          <p:nvPr/>
        </p:nvSpPr>
        <p:spPr>
          <a:xfrm>
            <a:off x="6537959" y="3136392"/>
            <a:ext cx="109728" cy="10972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57416" y="3044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F472B6"/>
                </a:solidFill>
                <a:latin typeface="Microsoft YaHei"/>
                <a:ea typeface="Microsoft YaHei"/>
              </a:rPr>
              <a:t>产品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7416" y="3337560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Microsoft YaHei"/>
                <a:ea typeface="Microsoft YaHei"/>
              </a:rPr>
              <a:t>一键发币 · pump.fun 式终端 · 钱包行情</a:t>
            </a:r>
          </a:p>
        </p:txBody>
      </p:sp>
      <p:sp>
        <p:nvSpPr>
          <p:cNvPr id="27" name="Oval 26"/>
          <p:cNvSpPr/>
          <p:nvPr/>
        </p:nvSpPr>
        <p:spPr>
          <a:xfrm>
            <a:off x="6537959" y="3822191"/>
            <a:ext cx="109728" cy="10972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7416" y="37307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F472B6"/>
                </a:solidFill>
                <a:latin typeface="Microsoft YaHei"/>
                <a:ea typeface="Microsoft YaHei"/>
              </a:rPr>
              <a:t>用户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7416" y="4023359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Microsoft YaHei"/>
                <a:ea typeface="Microsoft YaHei"/>
              </a:rPr>
              <a:t>创作者(发行) · 粉丝散户(交易)</a:t>
            </a:r>
          </a:p>
        </p:txBody>
      </p:sp>
      <p:sp>
        <p:nvSpPr>
          <p:cNvPr id="30" name="Oval 29"/>
          <p:cNvSpPr/>
          <p:nvPr/>
        </p:nvSpPr>
        <p:spPr>
          <a:xfrm>
            <a:off x="6537959" y="4507992"/>
            <a:ext cx="109728" cy="10972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44165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F472B6"/>
                </a:solidFill>
                <a:latin typeface="Microsoft YaHei"/>
                <a:ea typeface="Microsoft YaHei"/>
              </a:rPr>
              <a:t>收入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7416" y="4709159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Microsoft YaHei"/>
                <a:ea typeface="Microsoft YaHei"/>
              </a:rPr>
              <a:t>交易手续费(核心) · 发行费 · 增值订阅</a:t>
            </a:r>
          </a:p>
        </p:txBody>
      </p:sp>
      <p:sp>
        <p:nvSpPr>
          <p:cNvPr id="33" name="Oval 32"/>
          <p:cNvSpPr/>
          <p:nvPr/>
        </p:nvSpPr>
        <p:spPr>
          <a:xfrm>
            <a:off x="6537959" y="5193792"/>
            <a:ext cx="109728" cy="10972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57416" y="51023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F472B6"/>
                </a:solidFill>
                <a:latin typeface="Microsoft YaHei"/>
                <a:ea typeface="Microsoft YaHei"/>
              </a:rPr>
              <a:t>护城河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57416" y="5394959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Microsoft YaHei"/>
                <a:ea typeface="Microsoft YaHei"/>
              </a:rPr>
              <a:t>交易量→流动性网络效应 · 用户黏性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9436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FB7185"/>
                </a:solidFill>
                <a:latin typeface="Microsoft YaHei"/>
                <a:ea typeface="Microsoft YaHei"/>
              </a:rPr>
              <a:t>风控铁律：</a:t>
            </a:r>
            <a:r>
              <a:rPr sz="1150" b="0">
                <a:solidFill>
                  <a:srgbClr val="F4EFFC"/>
                </a:solidFill>
                <a:latin typeface="Microsoft YaHei"/>
                <a:ea typeface="Microsoft YaHei"/>
              </a:rPr>
              <a:t>不充值直换 · 不拿充值保收益 · 变现只走外部市场——守防庞氏。</a:t>
            </a:r>
          </a:p>
        </p:txBody>
      </p:sp>
      <p:pic>
        <p:nvPicPr>
          <p:cNvPr id="37" name="Picture 36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融资计划书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THE FLYWHEEL · 商业闭环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EFFC"/>
                </a:solidFill>
                <a:latin typeface="Microsoft YaHei"/>
                <a:ea typeface="Microsoft YaHei"/>
              </a:rPr>
              <a:t>AI 供给 × 链上流通 = 自增长飞轮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A99FC0"/>
                </a:solidFill>
                <a:latin typeface="Microsoft YaHei"/>
                <a:ea typeface="Microsoft YaHei"/>
              </a:rPr>
              <a:t>别人只做发币（投机、易归零）；我们用 AI 端保证真实供给，用链上端提供流动性与变现。</a:t>
            </a:r>
          </a:p>
        </p:txBody>
      </p:sp>
      <p:sp>
        <p:nvSpPr>
          <p:cNvPr id="6" name="Oval 5"/>
          <p:cNvSpPr/>
          <p:nvPr/>
        </p:nvSpPr>
        <p:spPr>
          <a:xfrm>
            <a:off x="5135270" y="3108960"/>
            <a:ext cx="1920240" cy="1920240"/>
          </a:xfrm>
          <a:prstGeom prst="ellipse">
            <a:avLst/>
          </a:prstGeom>
          <a:gradFill rotWithShape="1">
            <a:gsLst>
              <a:gs pos="0">
                <a:srgbClr val="22D3EE"/>
              </a:gs>
              <a:gs pos="45000">
                <a:srgbClr val="8B5CF6"/>
              </a:gs>
              <a:gs pos="100000">
                <a:srgbClr val="EC4899"/>
              </a:gs>
            </a:gsLst>
            <a:lin ang="3600000" scaled="1"/>
          </a:gradFill>
          <a:ln>
            <a:noFill/>
          </a:ln>
          <a:effectLst>
            <a:outerShdw blurRad="330200" dist="0" dir="5400000" rotWithShape="0">
              <a:srgbClr val="8B5CF6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35270" y="3502152"/>
            <a:ext cx="1920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100" b="1">
                <a:solidFill>
                  <a:srgbClr val="FFFFFF"/>
                </a:solidFill>
                <a:latin typeface="Space Grotesk"/>
                <a:ea typeface="Microsoft YaHei"/>
              </a:rPr>
              <a:t>OneIP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飞轮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78470" y="36347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22D3EE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1350" y="36347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AI 持续生产 IP 资产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5190" y="52349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F472B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8070" y="52349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链上发行 · 提供流动性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1910" y="36347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EC4899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4790" y="36347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交易变现 · 反哺创作者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5190" y="20345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8070" y="20345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更多 IP / 品牌入驻</a:t>
            </a:r>
          </a:p>
        </p:txBody>
      </p:sp>
      <p:pic>
        <p:nvPicPr>
          <p:cNvPr id="16" name="Picture 1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融资计划书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3035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WHO WINS · 合作方价值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F4EFFC"/>
                </a:solidFill>
                <a:latin typeface="Microsoft YaHei"/>
                <a:ea typeface="Microsoft YaHei"/>
              </a:rPr>
              <a:t>合作方价值：人人都能在 OneIP 赚到钱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Microsoft YaHei"/>
                <a:ea typeface="Microsoft YaHei"/>
              </a:rPr>
              <a:t>无论你是品牌、供应商，还是普通人、网红、品牌 IP，都能在 OneIP 找到自己的赚钱方式。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847088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Microsoft YaHei"/>
                <a:ea typeface="Microsoft YaHei"/>
              </a:rPr>
              <a:t>为什么与我们合作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51576" y="1847088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Microsoft YaHei"/>
                <a:ea typeface="Microsoft YaHei"/>
              </a:rPr>
              <a:t>在 OneIP 赚什么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1847088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Microsoft YaHei"/>
                <a:ea typeface="Microsoft YaHei"/>
              </a:rPr>
              <a:t>OneIP 帮你什么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11091672" cy="1810512"/>
          </a:xfrm>
          <a:prstGeom prst="roundRect">
            <a:avLst>
              <a:gd name="adj" fmla="val 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" y="2596896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279400" dist="0" dir="5400000" rotWithShape="0">
              <a:srgbClr val="EC4899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52928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550" b="1">
                <a:solidFill>
                  <a:srgbClr val="F4EFFC"/>
                </a:solidFill>
                <a:latin typeface="Microsoft YaHei"/>
                <a:ea typeface="Microsoft YaHei"/>
              </a:rPr>
              <a:t>品牌 &amp; 供应商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118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EC4899"/>
                </a:solidFill>
                <a:latin typeface="Microsoft YaHei"/>
                <a:ea typeface="Microsoft YaHei"/>
              </a:rPr>
              <a:t>商业侧</a:t>
            </a:r>
          </a:p>
        </p:txBody>
      </p:sp>
      <p:sp>
        <p:nvSpPr>
          <p:cNvPr id="13" name="Oval 12"/>
          <p:cNvSpPr/>
          <p:nvPr/>
        </p:nvSpPr>
        <p:spPr>
          <a:xfrm>
            <a:off x="2788920" y="2578608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6" y="2487168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直达 KOL 与高粘性粉丝</a:t>
            </a:r>
          </a:p>
        </p:txBody>
      </p:sp>
      <p:sp>
        <p:nvSpPr>
          <p:cNvPr id="15" name="Oval 14"/>
          <p:cNvSpPr/>
          <p:nvPr/>
        </p:nvSpPr>
        <p:spPr>
          <a:xfrm>
            <a:off x="2788920" y="3090672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8376" y="2999232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粉丝即消费者，转化更高</a:t>
            </a:r>
          </a:p>
        </p:txBody>
      </p:sp>
      <p:sp>
        <p:nvSpPr>
          <p:cNvPr id="17" name="Oval 16"/>
          <p:cNvSpPr/>
          <p:nvPr/>
        </p:nvSpPr>
        <p:spPr>
          <a:xfrm>
            <a:off x="2788920" y="3602736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8376" y="3511296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一站对接海量 IP</a:t>
            </a:r>
          </a:p>
        </p:txBody>
      </p:sp>
      <p:sp>
        <p:nvSpPr>
          <p:cNvPr id="19" name="Oval 18"/>
          <p:cNvSpPr/>
          <p:nvPr/>
        </p:nvSpPr>
        <p:spPr>
          <a:xfrm>
            <a:off x="5751576" y="2578608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71032" y="2487168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粉丝社区直接带货</a:t>
            </a:r>
          </a:p>
        </p:txBody>
      </p:sp>
      <p:sp>
        <p:nvSpPr>
          <p:cNvPr id="21" name="Oval 20"/>
          <p:cNvSpPr/>
          <p:nvPr/>
        </p:nvSpPr>
        <p:spPr>
          <a:xfrm>
            <a:off x="5751576" y="3090672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2" y="2999232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IP 联名 / 授权分成</a:t>
            </a:r>
          </a:p>
        </p:txBody>
      </p:sp>
      <p:sp>
        <p:nvSpPr>
          <p:cNvPr id="23" name="Oval 22"/>
          <p:cNvSpPr/>
          <p:nvPr/>
        </p:nvSpPr>
        <p:spPr>
          <a:xfrm>
            <a:off x="5751576" y="3602736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71032" y="3511296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早期发行资产增值</a:t>
            </a:r>
          </a:p>
        </p:txBody>
      </p:sp>
      <p:sp>
        <p:nvSpPr>
          <p:cNvPr id="25" name="Oval 24"/>
          <p:cNvSpPr/>
          <p:nvPr/>
        </p:nvSpPr>
        <p:spPr>
          <a:xfrm>
            <a:off x="8714232" y="2578608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33688" y="2487168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IP + 粉丝数据精准匹配</a:t>
            </a:r>
          </a:p>
        </p:txBody>
      </p:sp>
      <p:sp>
        <p:nvSpPr>
          <p:cNvPr id="27" name="Oval 26"/>
          <p:cNvSpPr/>
          <p:nvPr/>
        </p:nvSpPr>
        <p:spPr>
          <a:xfrm>
            <a:off x="8714232" y="3090672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33688" y="2999232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链上自动分账、透明</a:t>
            </a:r>
          </a:p>
        </p:txBody>
      </p:sp>
      <p:sp>
        <p:nvSpPr>
          <p:cNvPr id="29" name="Oval 28"/>
          <p:cNvSpPr/>
          <p:nvPr/>
        </p:nvSpPr>
        <p:spPr>
          <a:xfrm>
            <a:off x="8714232" y="3602736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33688" y="3511296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守防庞氏合规环境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33672"/>
            <a:ext cx="11091672" cy="1810512"/>
          </a:xfrm>
          <a:prstGeom prst="roundRect">
            <a:avLst>
              <a:gd name="adj" fmla="val 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" y="4544568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279400" dist="0" dir="5400000" rotWithShape="0">
              <a:srgbClr val="22D3E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80060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550" b="1">
                <a:solidFill>
                  <a:srgbClr val="F4EFFC"/>
                </a:solidFill>
                <a:latin typeface="Microsoft YaHei"/>
                <a:ea typeface="Microsoft YaHei"/>
              </a:rPr>
              <a:t>普通人 · 网红 · 品牌 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5595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22D3EE"/>
                </a:solidFill>
                <a:latin typeface="Microsoft YaHei"/>
                <a:ea typeface="Microsoft YaHei"/>
              </a:rPr>
              <a:t>创作侧</a:t>
            </a:r>
          </a:p>
        </p:txBody>
      </p:sp>
      <p:sp>
        <p:nvSpPr>
          <p:cNvPr id="35" name="Oval 34"/>
          <p:cNvSpPr/>
          <p:nvPr/>
        </p:nvSpPr>
        <p:spPr>
          <a:xfrm>
            <a:off x="2788920" y="4526279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08376" y="4434840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影响力首次可资产化</a:t>
            </a:r>
          </a:p>
        </p:txBody>
      </p:sp>
      <p:sp>
        <p:nvSpPr>
          <p:cNvPr id="37" name="Oval 36"/>
          <p:cNvSpPr/>
          <p:nvPr/>
        </p:nvSpPr>
        <p:spPr>
          <a:xfrm>
            <a:off x="2788920" y="503834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08376" y="4946904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零门槛发币，无需懂技术</a:t>
            </a:r>
          </a:p>
        </p:txBody>
      </p:sp>
      <p:sp>
        <p:nvSpPr>
          <p:cNvPr id="39" name="Oval 38"/>
          <p:cNvSpPr/>
          <p:nvPr/>
        </p:nvSpPr>
        <p:spPr>
          <a:xfrm>
            <a:off x="2788920" y="55504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08376" y="5458968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AI 辅助持续产内容</a:t>
            </a:r>
          </a:p>
        </p:txBody>
      </p:sp>
      <p:sp>
        <p:nvSpPr>
          <p:cNvPr id="41" name="Oval 40"/>
          <p:cNvSpPr/>
          <p:nvPr/>
        </p:nvSpPr>
        <p:spPr>
          <a:xfrm>
            <a:off x="5751576" y="4526279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71032" y="4434840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发币募资 + 持续版税</a:t>
            </a:r>
          </a:p>
        </p:txBody>
      </p:sp>
      <p:sp>
        <p:nvSpPr>
          <p:cNvPr id="43" name="Oval 42"/>
          <p:cNvSpPr/>
          <p:nvPr/>
        </p:nvSpPr>
        <p:spPr>
          <a:xfrm>
            <a:off x="5751576" y="503834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71032" y="4946904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手续费 · 打赏 · 会员订阅</a:t>
            </a:r>
          </a:p>
        </p:txBody>
      </p:sp>
      <p:sp>
        <p:nvSpPr>
          <p:cNvPr id="45" name="Oval 44"/>
          <p:cNvSpPr/>
          <p:nvPr/>
        </p:nvSpPr>
        <p:spPr>
          <a:xfrm>
            <a:off x="5751576" y="55504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71032" y="5458968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品牌合作 / 带货分成</a:t>
            </a:r>
          </a:p>
        </p:txBody>
      </p:sp>
      <p:sp>
        <p:nvSpPr>
          <p:cNvPr id="47" name="Oval 46"/>
          <p:cNvSpPr/>
          <p:nvPr/>
        </p:nvSpPr>
        <p:spPr>
          <a:xfrm>
            <a:off x="8714232" y="4526279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33688" y="4434840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一键发币 + 交易终端</a:t>
            </a:r>
          </a:p>
        </p:txBody>
      </p:sp>
      <p:sp>
        <p:nvSpPr>
          <p:cNvPr id="49" name="Oval 48"/>
          <p:cNvSpPr/>
          <p:nvPr/>
        </p:nvSpPr>
        <p:spPr>
          <a:xfrm>
            <a:off x="8714232" y="503834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33688" y="4946904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AI 造 IP：分身 / 内容</a:t>
            </a:r>
          </a:p>
        </p:txBody>
      </p:sp>
      <p:sp>
        <p:nvSpPr>
          <p:cNvPr id="51" name="Oval 50"/>
          <p:cNvSpPr/>
          <p:nvPr/>
        </p:nvSpPr>
        <p:spPr>
          <a:xfrm>
            <a:off x="8714232" y="55504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33688" y="5458968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社交激励 + 流量资源</a:t>
            </a:r>
          </a:p>
        </p:txBody>
      </p:sp>
      <p:pic>
        <p:nvPicPr>
          <p:cNvPr id="53" name="Picture 5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融资计划书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LANDSCAPE · 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F4EFFC"/>
                </a:solidFill>
                <a:latin typeface="Microsoft YaHei"/>
                <a:ea typeface="Microsoft YaHei"/>
              </a:rPr>
              <a:t>为什么是 OneIP：一个平台补齐所有人的短板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Microsoft YaHei"/>
                <a:ea typeface="Microsoft YaHei"/>
              </a:rPr>
              <a:t>发币、交易、社交、品牌——各类玩家各有所长却各有缺口；OneIP 用一个平台整合，并守住安全底线。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745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Microsoft YaHei"/>
                <a:ea typeface="Microsoft YaHei"/>
              </a:rPr>
              <a:t>对象 / 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8745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Microsoft YaHei"/>
                <a:ea typeface="Microsoft YaHei"/>
              </a:rPr>
              <a:t>核心功能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8745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Microsoft YaHei"/>
                <a:ea typeface="Microsoft YaHei"/>
              </a:rPr>
              <a:t>特点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8745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Microsoft YaHei"/>
                <a:ea typeface="Microsoft YaHei"/>
              </a:rPr>
              <a:t>安全 · 风控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8745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8745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Microsoft YaHei"/>
                <a:ea typeface="Microsoft YaHei"/>
              </a:rPr>
              <a:t>亮点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40280"/>
            <a:ext cx="11091672" cy="804672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8096" y="2592324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240280"/>
            <a:ext cx="1143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100" b="1">
                <a:solidFill>
                  <a:srgbClr val="F4EFFC"/>
                </a:solidFill>
                <a:latin typeface="Space Grotesk"/>
                <a:ea typeface="Microsoft YaHei"/>
              </a:rPr>
              <a:t>pump.fun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240280"/>
            <a:ext cx="178308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C9C0E0"/>
                </a:solidFill>
                <a:latin typeface="Microsoft YaHei"/>
                <a:ea typeface="Microsoft YaHei"/>
              </a:rPr>
              <a:t>一键发 meme 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240280"/>
            <a:ext cx="1645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A99FC0"/>
                </a:solidFill>
                <a:latin typeface="Microsoft YaHei"/>
                <a:ea typeface="Microsoft YaHei"/>
              </a:rPr>
              <a:t>纯链上 · 无门槛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240280"/>
            <a:ext cx="16002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A99FC0"/>
                </a:solidFill>
                <a:latin typeface="Microsoft YaHei"/>
                <a:ea typeface="Microsoft YaHei"/>
              </a:rPr>
              <a:t>无审核 · 易 Rug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240280"/>
            <a:ext cx="21488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D7A6B5"/>
                </a:solidFill>
                <a:latin typeface="Microsoft YaHei"/>
                <a:ea typeface="Microsoft YaHei"/>
              </a:rPr>
              <a:t>投机归零 · 无沉淀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240280"/>
            <a:ext cx="2103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C9C0E0"/>
                </a:solidFill>
                <a:latin typeface="Microsoft YaHei"/>
                <a:ea typeface="Microsoft YaHei"/>
              </a:rPr>
              <a:t>冷启动快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54680"/>
            <a:ext cx="11091672" cy="804672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8096" y="3506724"/>
            <a:ext cx="100584" cy="10058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154680"/>
            <a:ext cx="1143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100" b="1">
                <a:solidFill>
                  <a:srgbClr val="F4EFFC"/>
                </a:solidFill>
                <a:latin typeface="Microsoft YaHei"/>
                <a:ea typeface="Microsoft YaHei"/>
              </a:rPr>
              <a:t>现有社交平台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154680"/>
            <a:ext cx="178308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C9C0E0"/>
                </a:solidFill>
                <a:latin typeface="Microsoft YaHei"/>
                <a:ea typeface="Microsoft YaHei"/>
              </a:rPr>
              <a:t>内容分发 / 连接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154680"/>
            <a:ext cx="1645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A99FC0"/>
                </a:solidFill>
                <a:latin typeface="Microsoft YaHei"/>
                <a:ea typeface="Microsoft YaHei"/>
              </a:rPr>
              <a:t>流量中心化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154680"/>
            <a:ext cx="16002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A99FC0"/>
                </a:solidFill>
                <a:latin typeface="Microsoft YaHei"/>
                <a:ea typeface="Microsoft YaHei"/>
              </a:rPr>
              <a:t>平台合规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154680"/>
            <a:ext cx="21488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D7A6B5"/>
                </a:solidFill>
                <a:latin typeface="Microsoft YaHei"/>
                <a:ea typeface="Microsoft YaHei"/>
              </a:rPr>
              <a:t>难变现 · 高抽成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154680"/>
            <a:ext cx="2103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C9C0E0"/>
                </a:solidFill>
                <a:latin typeface="Microsoft YaHei"/>
                <a:ea typeface="Microsoft YaHei"/>
              </a:rPr>
              <a:t>粉丝基础大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69080"/>
            <a:ext cx="11091672" cy="804672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8096" y="4421124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069080"/>
            <a:ext cx="1143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100" b="1">
                <a:solidFill>
                  <a:srgbClr val="F4EFFC"/>
                </a:solidFill>
                <a:latin typeface="Microsoft YaHei"/>
                <a:ea typeface="Microsoft YaHei"/>
              </a:rPr>
              <a:t>传统品牌 / 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069080"/>
            <a:ext cx="178308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C9C0E0"/>
                </a:solidFill>
                <a:latin typeface="Microsoft YaHei"/>
                <a:ea typeface="Microsoft YaHei"/>
              </a:rPr>
              <a:t>授权 / 联名变现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4069080"/>
            <a:ext cx="1645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A99FC0"/>
                </a:solidFill>
                <a:latin typeface="Microsoft YaHei"/>
                <a:ea typeface="Microsoft YaHei"/>
              </a:rPr>
              <a:t>中心化授权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069080"/>
            <a:ext cx="16002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A99FC0"/>
                </a:solidFill>
                <a:latin typeface="Microsoft YaHei"/>
                <a:ea typeface="Microsoft YaHei"/>
              </a:rPr>
              <a:t>合规成熟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069080"/>
            <a:ext cx="21488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D7A6B5"/>
                </a:solidFill>
                <a:latin typeface="Microsoft YaHei"/>
                <a:ea typeface="Microsoft YaHei"/>
              </a:rPr>
              <a:t>链条慢 · 零参与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4069080"/>
            <a:ext cx="2103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C9C0E0"/>
                </a:solidFill>
                <a:latin typeface="Microsoft YaHei"/>
                <a:ea typeface="Microsoft YaHei"/>
              </a:rPr>
              <a:t>品牌信任高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983480"/>
            <a:ext cx="11091672" cy="804672"/>
          </a:xfrm>
          <a:prstGeom prst="roundRect">
            <a:avLst>
              <a:gd name="adj" fmla="val 10000"/>
            </a:avLst>
          </a:prstGeom>
          <a:solidFill>
            <a:srgbClr val="1B1232"/>
          </a:solidFill>
          <a:ln w="1905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212080"/>
            <a:ext cx="347472" cy="3474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52144" y="4983480"/>
            <a:ext cx="10058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F4EFFC"/>
                </a:solidFill>
                <a:latin typeface="Space Grotesk"/>
                <a:ea typeface="Microsoft YaHei"/>
              </a:rPr>
              <a:t>OneIP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4983480"/>
            <a:ext cx="178308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F4EFFC"/>
                </a:solidFill>
                <a:latin typeface="Microsoft YaHei"/>
                <a:ea typeface="Microsoft YaHei"/>
              </a:rPr>
              <a:t>发币+交易+社交+AI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4983480"/>
            <a:ext cx="1645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22D3EE"/>
                </a:solidFill>
                <a:latin typeface="Microsoft YaHei"/>
                <a:ea typeface="Microsoft YaHei"/>
              </a:rPr>
              <a:t>IP 资产化 · 粉丝共创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983480"/>
            <a:ext cx="16002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34D399"/>
                </a:solidFill>
                <a:latin typeface="Microsoft YaHei"/>
                <a:ea typeface="Microsoft YaHei"/>
              </a:rPr>
              <a:t>守防庞氏 · 外部变现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983480"/>
            <a:ext cx="21488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34D399"/>
                </a:solidFill>
                <a:latin typeface="Microsoft YaHei"/>
                <a:ea typeface="Microsoft YaHei"/>
              </a:rPr>
              <a:t>补齐全部短板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4983480"/>
            <a:ext cx="2103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F472B6"/>
                </a:solidFill>
                <a:latin typeface="Microsoft YaHei"/>
                <a:ea typeface="Microsoft YaHei"/>
              </a:rPr>
              <a:t>真实价值闭环</a:t>
            </a:r>
          </a:p>
        </p:txBody>
      </p:sp>
      <p:pic>
        <p:nvPicPr>
          <p:cNvPr id="44" name="Picture 43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融资计划书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MARKET · 市场规模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EFFC"/>
                </a:solidFill>
                <a:latin typeface="Microsoft YaHei"/>
                <a:ea typeface="Microsoft YaHei"/>
              </a:rPr>
              <a:t>万亿级 IP 经济，正在向链上迁移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Microsoft YaHei"/>
                <a:ea typeface="Microsoft YaHei"/>
              </a:rPr>
              <a:t>创作者经济持续高速增长，而「粉丝情绪可定价、可交易」是其中尚未被满足的最大缺口。</a:t>
            </a:r>
          </a:p>
        </p:txBody>
      </p:sp>
      <p:sp>
        <p:nvSpPr>
          <p:cNvPr id="6" name="Oval 5"/>
          <p:cNvSpPr/>
          <p:nvPr/>
        </p:nvSpPr>
        <p:spPr>
          <a:xfrm>
            <a:off x="1234439" y="2103120"/>
            <a:ext cx="4023360" cy="4023360"/>
          </a:xfrm>
          <a:prstGeom prst="ellipse">
            <a:avLst/>
          </a:prstGeom>
          <a:solidFill>
            <a:srgbClr val="1B1232"/>
          </a:solidFill>
          <a:ln w="25400">
            <a:solidFill>
              <a:srgbClr val="8B5CF6"/>
            </a:solidFill>
          </a:ln>
          <a:effectLst>
            <a:outerShdw blurRad="228600" dist="0" dir="5400000" rotWithShape="0">
              <a:srgbClr val="8B5CF6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19" y="2743200"/>
            <a:ext cx="2743200" cy="2743200"/>
          </a:xfrm>
          <a:prstGeom prst="ellipse">
            <a:avLst/>
          </a:prstGeom>
          <a:solidFill>
            <a:srgbClr val="150E26"/>
          </a:solidFill>
          <a:ln w="25400">
            <a:solidFill>
              <a:srgbClr val="EC4899"/>
            </a:solidFill>
          </a:ln>
          <a:effectLst>
            <a:outerShdw blurRad="228600" dist="0" dir="5400000" rotWithShape="0">
              <a:srgbClr val="EC489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79" y="3337560"/>
            <a:ext cx="1554480" cy="1554480"/>
          </a:xfrm>
          <a:prstGeom prst="ellipse">
            <a:avLst/>
          </a:prstGeom>
          <a:solidFill>
            <a:srgbClr val="1B1232"/>
          </a:solidFill>
          <a:ln w="25400">
            <a:solidFill>
              <a:srgbClr val="22D3EE"/>
            </a:solidFill>
          </a:ln>
          <a:effectLst>
            <a:outerShdw blurRad="228600" dist="0" dir="5400000" rotWithShape="0">
              <a:srgbClr val="22D3EE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79" y="23317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8B5CF6"/>
                </a:solidFill>
                <a:latin typeface="Space Grotesk"/>
                <a:ea typeface="Microsoft YaHei"/>
              </a:rPr>
              <a:t>TAM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4EFFC"/>
                </a:solidFill>
                <a:latin typeface="Space Grotesk"/>
                <a:ea typeface="Microsoft YaHei"/>
              </a:rPr>
              <a:t>$2,500 亿+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79" y="3127248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EC4899"/>
                </a:solidFill>
                <a:latin typeface="Space Grotesk"/>
                <a:ea typeface="Microsoft YaHei"/>
              </a:rPr>
              <a:t>SAM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pace Grotesk"/>
                <a:ea typeface="Microsoft YaHei"/>
              </a:rPr>
              <a:t>$500 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8404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22D3EE"/>
                </a:solidFill>
                <a:latin typeface="Space Grotesk"/>
                <a:ea typeface="Microsoft YaHei"/>
              </a:rPr>
              <a:t>SOM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pace Grotesk"/>
                <a:ea typeface="Microsoft YaHei"/>
              </a:rPr>
              <a:t>$15 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65960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56832" y="2295144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279400" dist="0" dir="5400000" rotWithShape="0">
              <a:srgbClr val="8B5CF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211226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EFFC"/>
                </a:solidFill>
                <a:latin typeface="Microsoft YaHei"/>
                <a:ea typeface="Microsoft YaHei"/>
              </a:rPr>
              <a:t>TAM 全球创作者经济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459736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全球内容创作者 / 网红经济年规模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16936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56832" y="3246120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279400" dist="0" dir="5400000" rotWithShape="0">
              <a:srgbClr val="EC4899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306324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EFFC"/>
                </a:solidFill>
                <a:latin typeface="Microsoft YaHei"/>
                <a:ea typeface="Microsoft YaHei"/>
              </a:rPr>
              <a:t>SAM 可发币的 IP 市场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410712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适合资产化的网红 / KOL · 品牌 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867912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56832" y="4197096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279400" dist="0" dir="5400000" rotWithShape="0">
              <a:srgbClr val="22D3E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401421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EFFC"/>
                </a:solidFill>
                <a:latin typeface="Microsoft YaHei"/>
                <a:ea typeface="Microsoft YaHei"/>
              </a:rPr>
              <a:t>SOM 3 年可获取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361688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OneIP 在发币+交易+社交的可触达份额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8348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Microsoft YaHei"/>
                <a:ea typeface="Microsoft YaHei"/>
              </a:rPr>
              <a:t>增长驱动：</a:t>
            </a:r>
            <a:r>
              <a:rPr sz="1150" b="0">
                <a:solidFill>
                  <a:srgbClr val="F4EFFC"/>
                </a:solidFill>
                <a:latin typeface="Microsoft YaHei"/>
                <a:ea typeface="Microsoft YaHei"/>
              </a:rPr>
              <a:t>创作者经济年增 ~20% · Web3 粉丝代币需求爆发 · 短视频带来海量 KOL 供给 · 粉丝愿为「归属感」付费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943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* 市场数字为公开资料估算，用于规模示意。</a:t>
            </a:r>
          </a:p>
        </p:txBody>
      </p:sp>
      <p:pic>
        <p:nvPicPr>
          <p:cNvPr id="26" name="Picture 2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融资计划书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BUSINESS MODEL · 商业化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4EFFC"/>
                </a:solidFill>
                <a:latin typeface="Microsoft YaHei"/>
                <a:ea typeface="Microsoft YaHei"/>
              </a:rPr>
              <a:t>多元收入结构，规模化的现金流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1168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2576"/>
            <a:ext cx="292608" cy="29260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414016"/>
            <a:ext cx="118872" cy="118872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279400" dist="0" dir="5400000" rotWithShape="0">
              <a:srgbClr val="EC4899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15798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交易手续费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14600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oneIP.io 核心收入，随交易量线性放大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35808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3346704"/>
            <a:ext cx="292608" cy="29260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3438144"/>
            <a:ext cx="118872" cy="118872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279400" dist="0" dir="5400000" rotWithShape="0">
              <a:srgbClr val="22D3E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18211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AI 订阅 (SaaS)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538728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oneIP.ai 月费 / 年费，稳定经常性收入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059936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4370832"/>
            <a:ext cx="292608" cy="29260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4128" y="4462272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279400" dist="0" dir="5400000" rotWithShape="0">
              <a:srgbClr val="8B5CF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2062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发行 &amp; 授权抽成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62856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代币发行服务费 + IP 授权交易分成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084064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688" y="5394960"/>
            <a:ext cx="292608" cy="29260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" y="5486400"/>
            <a:ext cx="118872" cy="118872"/>
          </a:xfrm>
          <a:prstGeom prst="ellipse">
            <a:avLst/>
          </a:prstGeom>
          <a:solidFill>
            <a:srgbClr val="FB7185"/>
          </a:solidFill>
          <a:ln>
            <a:noFill/>
          </a:ln>
          <a:effectLst>
            <a:outerShdw blurRad="279400" dist="0" dir="5400000" rotWithShape="0">
              <a:srgbClr val="FB718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52303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增值 &amp; 企业定制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586984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Microsoft YaHei"/>
                <a:ea typeface="Microsoft YaHei"/>
              </a:rPr>
              <a:t>终端订阅、做市分成、品牌定制 IP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172200" y="2011680"/>
          <a:ext cx="534924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26" name="Picture 25" descr="logo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融资计划书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THE BIG PICTURE · Web4 增长愿景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F4EFFC"/>
                </a:solidFill>
                <a:latin typeface="Microsoft YaHei"/>
                <a:ea typeface="Microsoft YaHei"/>
              </a:rPr>
              <a:t>Web4 时代：粉丝即资产，聚合亿级 IP 经济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Microsoft YaHei"/>
                <a:ea typeface="Microsoft YaHei"/>
              </a:rPr>
              <a:t>当平台聚合足够多的品牌、网红与粉丝数据，规模效应将驱动收入指数级增长。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Microsoft YaHei"/>
                <a:ea typeface="Microsoft YaHei"/>
              </a:rPr>
              <a:t>入驻品牌 &amp; 供应商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8B5CF6"/>
                </a:solidFill>
                <a:latin typeface="Space Grotesk"/>
                <a:ea typeface="Microsoft YaHei"/>
              </a:rPr>
              <a:t>30,000+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2028E 规模假设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Microsoft YaHei"/>
                <a:ea typeface="Microsoft YaHei"/>
              </a:rPr>
              <a:t>网红 / 创作者 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EC4899"/>
                </a:solidFill>
                <a:latin typeface="Space Grotesk"/>
                <a:ea typeface="Microsoft YaHei"/>
              </a:rPr>
              <a:t>200,000+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2028E 规模假设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Microsoft YaHei"/>
                <a:ea typeface="Microsoft YaHei"/>
              </a:rPr>
              <a:t>覆盖粉丝数据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F472B6"/>
                </a:solidFill>
                <a:latin typeface="Space Grotesk"/>
                <a:ea typeface="Microsoft YaHei"/>
              </a:rPr>
              <a:t>3 亿+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2028E 规模假设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Microsoft YaHei"/>
                <a:ea typeface="Microsoft YaHei"/>
              </a:rPr>
              <a:t>年交易额 GMV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22D3EE"/>
                </a:solidFill>
                <a:latin typeface="Space Grotesk"/>
                <a:ea typeface="Microsoft YaHei"/>
              </a:rPr>
              <a:t>$30 亿+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2028E 规模假设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40080" y="3703320"/>
          <a:ext cx="6309360" cy="2423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269480" y="3611880"/>
            <a:ext cx="4251960" cy="2606040"/>
          </a:xfrm>
          <a:prstGeom prst="roundRect">
            <a:avLst>
              <a:gd name="adj" fmla="val 9000"/>
            </a:avLst>
          </a:prstGeom>
          <a:solidFill>
            <a:srgbClr val="1B1232"/>
          </a:solidFill>
          <a:ln w="1778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3712463"/>
            <a:ext cx="3794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Microsoft YaHei"/>
                <a:ea typeface="Microsoft YaHei"/>
              </a:rPr>
              <a:t>2028E 平台年收入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950208"/>
            <a:ext cx="3794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22D3EE"/>
                </a:solidFill>
                <a:latin typeface="Space Grotesk"/>
                <a:ea typeface="Microsoft YaHei"/>
              </a:rPr>
              <a:t>$1.5 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517136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7A6F96"/>
                </a:solidFill>
                <a:latin typeface="Microsoft YaHei"/>
                <a:ea typeface="Microsoft YaHei"/>
              </a:rPr>
              <a:t>估值 = 年收入 × PE 40 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846320"/>
            <a:ext cx="3794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Microsoft YaHei"/>
                <a:ea typeface="Microsoft YaHei"/>
              </a:rPr>
              <a:t>2028E 预测公司市值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065776"/>
            <a:ext cx="3794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700" b="1">
                <a:solidFill>
                  <a:srgbClr val="F472B6"/>
                </a:solidFill>
                <a:latin typeface="Space Grotesk"/>
                <a:ea typeface="Microsoft YaHei"/>
              </a:rPr>
              <a:t>$60 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81558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>
                <a:solidFill>
                  <a:srgbClr val="7A6F96"/>
                </a:solidFill>
                <a:latin typeface="Microsoft YaHei"/>
                <a:ea typeface="Microsoft YaHei"/>
              </a:rPr>
              <a:t>* 按 40× PE 测算，规模化情景下的愿景假设，非业绩承诺。</a:t>
            </a:r>
          </a:p>
        </p:txBody>
      </p:sp>
      <p:pic>
        <p:nvPicPr>
          <p:cNvPr id="30" name="Picture 29" descr="logo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融资计划书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ROADMAP · 里程碑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4EFFC"/>
                </a:solidFill>
                <a:latin typeface="Microsoft YaHei"/>
                <a:ea typeface="Microsoft YaHei"/>
              </a:rPr>
              <a:t>18 个月跑通闭环，3 年走向盈利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1619" y="2779776"/>
            <a:ext cx="9125712" cy="18288"/>
          </a:xfrm>
          <a:prstGeom prst="rect">
            <a:avLst/>
          </a:prstGeom>
          <a:solidFill>
            <a:srgbClr val="2A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22D3EE"/>
                </a:solidFill>
                <a:latin typeface="Space Grotesk"/>
                <a:ea typeface="Microsoft YaHei"/>
              </a:rPr>
              <a:t>2026 Q3</a:t>
            </a:r>
          </a:p>
        </p:txBody>
      </p:sp>
      <p:sp>
        <p:nvSpPr>
          <p:cNvPr id="7" name="Oval 6"/>
          <p:cNvSpPr/>
          <p:nvPr/>
        </p:nvSpPr>
        <p:spPr>
          <a:xfrm>
            <a:off x="1412748" y="2670048"/>
            <a:ext cx="237744" cy="237744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279400" dist="0" dir="5400000" rotWithShape="0">
              <a:srgbClr val="22D3E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1965960" cy="269748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649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平台 MVP 上线</a:t>
            </a:r>
          </a:p>
        </p:txBody>
      </p:sp>
      <p:sp>
        <p:nvSpPr>
          <p:cNvPr id="10" name="Oval 9"/>
          <p:cNvSpPr/>
          <p:nvPr/>
        </p:nvSpPr>
        <p:spPr>
          <a:xfrm>
            <a:off x="795528" y="423367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4223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oneIP.io 发行 + 交易终端</a:t>
            </a:r>
          </a:p>
        </p:txBody>
      </p:sp>
      <p:sp>
        <p:nvSpPr>
          <p:cNvPr id="12" name="Oval 11"/>
          <p:cNvSpPr/>
          <p:nvPr/>
        </p:nvSpPr>
        <p:spPr>
          <a:xfrm>
            <a:off x="795528" y="4800600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首批 KOL / 网红入驻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" y="536752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27608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钱包 · 行情 · 跟单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0068" y="22402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8B5CF6"/>
                </a:solidFill>
                <a:latin typeface="Space Grotesk"/>
                <a:ea typeface="Microsoft YaHei"/>
              </a:rPr>
              <a:t>2026 Q4</a:t>
            </a:r>
          </a:p>
        </p:txBody>
      </p:sp>
      <p:sp>
        <p:nvSpPr>
          <p:cNvPr id="17" name="Oval 16"/>
          <p:cNvSpPr/>
          <p:nvPr/>
        </p:nvSpPr>
        <p:spPr>
          <a:xfrm>
            <a:off x="3694176" y="2670048"/>
            <a:ext cx="237744" cy="237744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279400" dist="0" dir="5400000" rotWithShape="0">
              <a:srgbClr val="8B5CF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30068" y="3154680"/>
            <a:ext cx="1965960" cy="269748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58668" y="33649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AI 造 IP 上线</a:t>
            </a:r>
          </a:p>
        </p:txBody>
      </p:sp>
      <p:sp>
        <p:nvSpPr>
          <p:cNvPr id="20" name="Oval 19"/>
          <p:cNvSpPr/>
          <p:nvPr/>
        </p:nvSpPr>
        <p:spPr>
          <a:xfrm>
            <a:off x="3076956" y="4233672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87268" y="414223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oneIP.ai 内测</a:t>
            </a:r>
          </a:p>
        </p:txBody>
      </p:sp>
      <p:sp>
        <p:nvSpPr>
          <p:cNvPr id="22" name="Oval 21"/>
          <p:cNvSpPr/>
          <p:nvPr/>
        </p:nvSpPr>
        <p:spPr>
          <a:xfrm>
            <a:off x="3076956" y="480060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87268" y="47091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AI 数字分身 / 内容</a:t>
            </a:r>
          </a:p>
        </p:txBody>
      </p:sp>
      <p:sp>
        <p:nvSpPr>
          <p:cNvPr id="24" name="Oval 23"/>
          <p:cNvSpPr/>
          <p:nvPr/>
        </p:nvSpPr>
        <p:spPr>
          <a:xfrm>
            <a:off x="3076956" y="5367528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87268" y="527608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交易量与用户起量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11496" y="22402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EC4899"/>
                </a:solidFill>
                <a:latin typeface="Space Grotesk"/>
                <a:ea typeface="Microsoft YaHei"/>
              </a:rPr>
              <a:t>2027 H1</a:t>
            </a:r>
          </a:p>
        </p:txBody>
      </p:sp>
      <p:sp>
        <p:nvSpPr>
          <p:cNvPr id="27" name="Oval 26"/>
          <p:cNvSpPr/>
          <p:nvPr/>
        </p:nvSpPr>
        <p:spPr>
          <a:xfrm>
            <a:off x="5975604" y="2670048"/>
            <a:ext cx="237744" cy="237744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279400" dist="0" dir="5400000" rotWithShape="0">
              <a:srgbClr val="EC4899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11496" y="3154680"/>
            <a:ext cx="1965960" cy="269748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0096" y="33649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规模化增长</a:t>
            </a:r>
          </a:p>
        </p:txBody>
      </p:sp>
      <p:sp>
        <p:nvSpPr>
          <p:cNvPr id="30" name="Oval 29"/>
          <p:cNvSpPr/>
          <p:nvPr/>
        </p:nvSpPr>
        <p:spPr>
          <a:xfrm>
            <a:off x="5358383" y="4233672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68696" y="414223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品牌 / MCN 合作</a:t>
            </a:r>
          </a:p>
        </p:txBody>
      </p:sp>
      <p:sp>
        <p:nvSpPr>
          <p:cNvPr id="32" name="Oval 31"/>
          <p:cNvSpPr/>
          <p:nvPr/>
        </p:nvSpPr>
        <p:spPr>
          <a:xfrm>
            <a:off x="5358383" y="4800600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68696" y="47091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粉丝社交共创功能</a:t>
            </a:r>
          </a:p>
        </p:txBody>
      </p:sp>
      <p:sp>
        <p:nvSpPr>
          <p:cNvPr id="34" name="Oval 33"/>
          <p:cNvSpPr/>
          <p:nvPr/>
        </p:nvSpPr>
        <p:spPr>
          <a:xfrm>
            <a:off x="5358383" y="5367528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68696" y="527608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用户与营收放大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92924" y="22402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472B6"/>
                </a:solidFill>
                <a:latin typeface="Space Grotesk"/>
                <a:ea typeface="Microsoft YaHei"/>
              </a:rPr>
              <a:t>2027 H2</a:t>
            </a:r>
          </a:p>
        </p:txBody>
      </p:sp>
      <p:sp>
        <p:nvSpPr>
          <p:cNvPr id="37" name="Oval 36"/>
          <p:cNvSpPr/>
          <p:nvPr/>
        </p:nvSpPr>
        <p:spPr>
          <a:xfrm>
            <a:off x="8257031" y="2670048"/>
            <a:ext cx="237744" cy="237744"/>
          </a:xfrm>
          <a:prstGeom prst="ellipse">
            <a:avLst/>
          </a:prstGeom>
          <a:solidFill>
            <a:srgbClr val="F472B6"/>
          </a:solidFill>
          <a:ln>
            <a:noFill/>
          </a:ln>
          <a:effectLst>
            <a:outerShdw blurRad="279400" dist="0" dir="5400000" rotWithShape="0">
              <a:srgbClr val="F472B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92924" y="3154680"/>
            <a:ext cx="1965960" cy="269748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1524" y="33649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出海与盈亏平衡</a:t>
            </a:r>
          </a:p>
        </p:txBody>
      </p:sp>
      <p:sp>
        <p:nvSpPr>
          <p:cNvPr id="40" name="Oval 39"/>
          <p:cNvSpPr/>
          <p:nvPr/>
        </p:nvSpPr>
        <p:spPr>
          <a:xfrm>
            <a:off x="7639812" y="4233672"/>
            <a:ext cx="91440" cy="914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50124" y="414223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多链 + 海外市场</a:t>
            </a:r>
          </a:p>
        </p:txBody>
      </p:sp>
      <p:sp>
        <p:nvSpPr>
          <p:cNvPr id="42" name="Oval 41"/>
          <p:cNvSpPr/>
          <p:nvPr/>
        </p:nvSpPr>
        <p:spPr>
          <a:xfrm>
            <a:off x="7639812" y="4800600"/>
            <a:ext cx="91440" cy="914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50124" y="47091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做市 / 流动性完善</a:t>
            </a:r>
          </a:p>
        </p:txBody>
      </p:sp>
      <p:sp>
        <p:nvSpPr>
          <p:cNvPr id="44" name="Oval 43"/>
          <p:cNvSpPr/>
          <p:nvPr/>
        </p:nvSpPr>
        <p:spPr>
          <a:xfrm>
            <a:off x="7639812" y="5367528"/>
            <a:ext cx="91440" cy="914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50124" y="527608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实现盈亏平衡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4352" y="22402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B7185"/>
                </a:solidFill>
                <a:latin typeface="Space Grotesk"/>
                <a:ea typeface="Microsoft YaHei"/>
              </a:rPr>
              <a:t>2028</a:t>
            </a:r>
          </a:p>
        </p:txBody>
      </p:sp>
      <p:sp>
        <p:nvSpPr>
          <p:cNvPr id="47" name="Oval 46"/>
          <p:cNvSpPr/>
          <p:nvPr/>
        </p:nvSpPr>
        <p:spPr>
          <a:xfrm>
            <a:off x="10538459" y="2670048"/>
            <a:ext cx="237744" cy="237744"/>
          </a:xfrm>
          <a:prstGeom prst="ellipse">
            <a:avLst/>
          </a:prstGeom>
          <a:solidFill>
            <a:srgbClr val="FB7185"/>
          </a:solidFill>
          <a:ln>
            <a:noFill/>
          </a:ln>
          <a:effectLst>
            <a:outerShdw blurRad="279400" dist="0" dir="5400000" rotWithShape="0">
              <a:srgbClr val="FB718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674352" y="3154680"/>
            <a:ext cx="1965960" cy="269748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02952" y="33649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Microsoft YaHei"/>
                <a:ea typeface="Microsoft YaHei"/>
              </a:rPr>
              <a:t>生态开放与盈利</a:t>
            </a:r>
          </a:p>
        </p:txBody>
      </p:sp>
      <p:sp>
        <p:nvSpPr>
          <p:cNvPr id="50" name="Oval 49"/>
          <p:cNvSpPr/>
          <p:nvPr/>
        </p:nvSpPr>
        <p:spPr>
          <a:xfrm>
            <a:off x="9921240" y="4233672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31552" y="414223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开放生态 / API</a:t>
            </a:r>
          </a:p>
        </p:txBody>
      </p:sp>
      <p:sp>
        <p:nvSpPr>
          <p:cNvPr id="52" name="Oval 51"/>
          <p:cNvSpPr/>
          <p:nvPr/>
        </p:nvSpPr>
        <p:spPr>
          <a:xfrm>
            <a:off x="9921240" y="4800600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31552" y="47091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IP 资产二级市场</a:t>
            </a:r>
          </a:p>
        </p:txBody>
      </p:sp>
      <p:sp>
        <p:nvSpPr>
          <p:cNvPr id="54" name="Oval 53"/>
          <p:cNvSpPr/>
          <p:nvPr/>
        </p:nvSpPr>
        <p:spPr>
          <a:xfrm>
            <a:off x="9921240" y="5367528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31552" y="527608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持续盈利增长</a:t>
            </a:r>
          </a:p>
        </p:txBody>
      </p:sp>
      <p:pic>
        <p:nvPicPr>
          <p:cNvPr id="56" name="Picture 5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融资计划书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TEAM · 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EFFC"/>
                </a:solidFill>
                <a:latin typeface="Microsoft YaHei"/>
                <a:ea typeface="Microsoft YaHei"/>
              </a:rPr>
              <a:t>懂内容、懂链、懂增长的操盘团队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Microsoft YaHei"/>
                <a:ea typeface="Microsoft YaHei"/>
              </a:rPr>
              <a:t>核心成员来自内容 / 社交生态与 Web3 一线，兼具流量获取与链上工程能力。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1993392" cy="320040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260604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ang="3300000" scaled="1"/>
          </a:gradFill>
          <a:ln>
            <a:noFill/>
          </a:ln>
          <a:effectLst>
            <a:outerShdw blurRad="203200" dist="0" dir="5400000" rotWithShape="0">
              <a:srgbClr val="8B5CF6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26060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Space Grotesk"/>
                <a:ea typeface="Microsoft YaHei"/>
              </a:rPr>
              <a:t>BK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88620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Benny Kau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79392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Founder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3210" y="2240280"/>
            <a:ext cx="1993392" cy="320040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16986" y="260604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22D3EE"/>
              </a:gs>
              <a:gs pos="100000">
                <a:srgbClr val="8B5CF6"/>
              </a:gs>
            </a:gsLst>
            <a:lin ang="3300000" scaled="1"/>
          </a:gradFill>
          <a:ln>
            <a:noFill/>
          </a:ln>
          <a:effectLst>
            <a:outerShdw blurRad="203200" dist="0" dir="5400000" rotWithShape="0">
              <a:srgbClr val="22D3E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6986" y="26060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Space Grotesk"/>
                <a:ea typeface="Microsoft YaHei"/>
              </a:rPr>
              <a:t>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6362" y="388620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Andy Yeo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2938" y="4279392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Co-Founder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7780" y="2240280"/>
            <a:ext cx="1993392" cy="320040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91556" y="260604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EC4899"/>
              </a:gs>
              <a:gs pos="100000">
                <a:srgbClr val="F472B6"/>
              </a:gs>
            </a:gsLst>
            <a:lin ang="3300000" scaled="1"/>
          </a:gradFill>
          <a:ln>
            <a:noFill/>
          </a:ln>
          <a:effectLst>
            <a:outerShdw blurRad="203200" dist="0" dir="5400000" rotWithShape="0">
              <a:srgbClr val="EC4899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1556" y="26060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Space Grotesk"/>
                <a:ea typeface="Microsoft YaHei"/>
              </a:rPr>
              <a:t>JK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0932" y="388620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Joyce Kau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508" y="4279392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CEO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2350" y="2240280"/>
            <a:ext cx="1993392" cy="320040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66125" y="260604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FB7185"/>
              </a:gs>
              <a:gs pos="100000">
                <a:srgbClr val="F472B6"/>
              </a:gs>
            </a:gsLst>
            <a:lin ang="3300000" scaled="1"/>
          </a:gradFill>
          <a:ln>
            <a:noFill/>
          </a:ln>
          <a:effectLst>
            <a:outerShdw blurRad="203200" dist="0" dir="5400000" rotWithShape="0">
              <a:srgbClr val="FB7185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6125" y="26060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Space Grotesk"/>
                <a:ea typeface="Microsoft YaHei"/>
              </a:rPr>
              <a:t>SL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502" y="388620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Sam 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2077" y="4279392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COO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2240280"/>
            <a:ext cx="1993392" cy="320040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0696" y="260604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F472B6"/>
              </a:gs>
              <a:gs pos="100000">
                <a:srgbClr val="8B5CF6"/>
              </a:gs>
            </a:gsLst>
            <a:lin ang="3300000" scaled="1"/>
          </a:gradFill>
          <a:ln>
            <a:noFill/>
          </a:ln>
          <a:effectLst>
            <a:outerShdw blurRad="203200" dist="0" dir="5400000" rotWithShape="0">
              <a:srgbClr val="F472B6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0696" y="26060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Space Grotesk"/>
                <a:ea typeface="Microsoft YaHei"/>
              </a:rPr>
              <a:t>FC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388620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Microsoft YaHei"/>
                <a:ea typeface="Microsoft YaHei"/>
              </a:rPr>
              <a:t>Fred Chong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4279392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Webtvasia CEO / MCN 顾问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6692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7A6F96"/>
                </a:solidFill>
                <a:latin typeface="Microsoft YaHei"/>
                <a:ea typeface="Microsoft YaHei"/>
              </a:rPr>
              <a:t>完整团队简历与顾问 / 资源方名单可应投资人要求提供。</a:t>
            </a:r>
          </a:p>
        </p:txBody>
      </p:sp>
      <p:pic>
        <p:nvPicPr>
          <p:cNvPr id="32" name="Picture 31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融资计划书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THE ASK · 融资计划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4EFFC"/>
                </a:solidFill>
                <a:latin typeface="Microsoft YaHei"/>
                <a:ea typeface="Microsoft YaHei"/>
              </a:rPr>
              <a:t>融资 200 万美金 · 让出 20% 原始股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A99FC0"/>
                </a:solidFill>
                <a:latin typeface="Microsoft YaHei"/>
                <a:ea typeface="Microsoft YaHei"/>
              </a:rPr>
              <a:t>投后估值 1,000 万美金，资金 18 个月跑通双引擎闭环并完成首轮规模化。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2148840"/>
          <a:ext cx="429768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783080" y="3794760"/>
            <a:ext cx="2103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200" b="1">
                <a:solidFill>
                  <a:srgbClr val="F4EFFC"/>
                </a:solidFill>
                <a:latin typeface="Space Grotesk"/>
                <a:ea typeface="Microsoft YaHei"/>
              </a:rPr>
              <a:t>200万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Microsoft YaHei"/>
                <a:ea typeface="Microsoft YaHei"/>
              </a:rPr>
              <a:t>美金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2103120"/>
            <a:ext cx="6172200" cy="713232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41848" y="2276856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8B5CF6"/>
                </a:solidFill>
                <a:latin typeface="Space Grotesk"/>
                <a:ea typeface="Microsoft YaHei"/>
              </a:rP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19456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F4EFFC"/>
                </a:solidFill>
                <a:latin typeface="Microsoft YaHei"/>
                <a:ea typeface="Microsoft YaHei"/>
              </a:rPr>
              <a:t>运营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48716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团队、多国办公室、合规与日常运转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276856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50" b="1">
                <a:solidFill>
                  <a:srgbClr val="8B5CF6"/>
                </a:solidFill>
                <a:latin typeface="Microsoft YaHei"/>
                <a:ea typeface="Microsoft YaHei"/>
              </a:rPr>
              <a:t>40 万美金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2889503"/>
            <a:ext cx="6172200" cy="713232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41848" y="3063239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22D3EE"/>
                </a:solidFill>
                <a:latin typeface="Space Grotesk"/>
                <a:ea typeface="Microsoft YaHe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980944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F4EFFC"/>
                </a:solidFill>
                <a:latin typeface="Microsoft YaHei"/>
                <a:ea typeface="Microsoft YaHei"/>
              </a:rPr>
              <a:t>开发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273551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oneIP.ai 模型 + oneIP.io 终端迭代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063239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Microsoft YaHei"/>
                <a:ea typeface="Microsoft YaHei"/>
              </a:rPr>
              <a:t>40 万美金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3675887"/>
            <a:ext cx="6172200" cy="713232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3849624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EC4899"/>
                </a:solidFill>
                <a:latin typeface="Space Grotesk"/>
                <a:ea typeface="Microsoft YaHei"/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767327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F4EFFC"/>
                </a:solidFill>
                <a:latin typeface="Microsoft YaHei"/>
                <a:ea typeface="Microsoft YaHei"/>
              </a:rPr>
              <a:t>市场推广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059935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用户增长、品牌曝光、社区运营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3849624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50" b="1">
                <a:solidFill>
                  <a:srgbClr val="EC4899"/>
                </a:solidFill>
                <a:latin typeface="Microsoft YaHei"/>
                <a:ea typeface="Microsoft YaHei"/>
              </a:rPr>
              <a:t>60 万美金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4462272"/>
            <a:ext cx="6172200" cy="713232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41848" y="4636008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FB7185"/>
                </a:solidFill>
                <a:latin typeface="Space Grotesk"/>
                <a:ea typeface="Microsoft YaHei"/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553712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F4EFFC"/>
                </a:solidFill>
                <a:latin typeface="Microsoft YaHei"/>
                <a:ea typeface="Microsoft YaHei"/>
              </a:rPr>
              <a:t>网红·品牌·供应商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8463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KOL 签约、品牌对接、供应链资源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4636008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50" b="1">
                <a:solidFill>
                  <a:srgbClr val="FB7185"/>
                </a:solidFill>
                <a:latin typeface="Microsoft YaHei"/>
                <a:ea typeface="Microsoft YaHei"/>
              </a:rPr>
              <a:t>40 万美金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49240" y="5248656"/>
            <a:ext cx="6172200" cy="713232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41848" y="5422392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34D399"/>
                </a:solidFill>
                <a:latin typeface="Space Grotesk"/>
                <a:ea typeface="Microsoft YaHei"/>
              </a:rPr>
              <a:t>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34009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F4EFFC"/>
                </a:solidFill>
                <a:latin typeface="Microsoft YaHei"/>
                <a:ea typeface="Microsoft YaHei"/>
              </a:rPr>
              <a:t>储备资金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563270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Microsoft YaHei"/>
                <a:ea typeface="Microsoft YaHei"/>
              </a:rPr>
              <a:t>机动资金，应对不确定性与机会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5422392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50" b="1">
                <a:solidFill>
                  <a:srgbClr val="34D399"/>
                </a:solidFill>
                <a:latin typeface="Microsoft YaHei"/>
                <a:ea typeface="Microsoft YaHei"/>
              </a:rPr>
              <a:t>20 万美金</a:t>
            </a:r>
          </a:p>
        </p:txBody>
      </p:sp>
      <p:pic>
        <p:nvPicPr>
          <p:cNvPr id="33" name="Picture 32" descr="logo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Microsoft YaHei"/>
              </a:rPr>
              <a:t>oneIP.io</a:t>
            </a:r>
            <a:r>
              <a:rPr sz="1000" b="0">
                <a:solidFill>
                  <a:srgbClr val="7A6F96"/>
                </a:solidFill>
                <a:latin typeface="Microsoft YaHei"/>
                <a:ea typeface="Microsoft YaHei"/>
              </a:rPr>
              <a:t>  ·  融资计划书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Microsoft YaHe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8686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Microsoft YaHei"/>
              </a:rPr>
              <a:t>THE VISION · 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54480"/>
            <a:ext cx="7772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4EFFC"/>
                </a:solidFill>
                <a:latin typeface="Microsoft YaHei"/>
                <a:ea typeface="Microsoft YaHei"/>
              </a:rPr>
              <a:t>让每一个独一无二的 IP，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4EFFC"/>
                </a:solidFill>
                <a:latin typeface="Microsoft YaHei"/>
                <a:ea typeface="Microsoft YaHei"/>
              </a:rPr>
              <a:t>都拥有自己的链上经济。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337560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A99FC0"/>
                </a:solidFill>
                <a:latin typeface="Microsoft YaHei"/>
                <a:ea typeface="Microsoft YaHei"/>
              </a:rPr>
              <a:t>AI 取代了可被复制的一切；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A99FC0"/>
                </a:solidFill>
                <a:latin typeface="Microsoft YaHei"/>
                <a:ea typeface="Microsoft YaHei"/>
              </a:rPr>
              <a:t>OneIP 让不可复制的「人」与「粉丝情绪」，成为真正的资产。</a:t>
            </a:r>
          </a:p>
        </p:txBody>
      </p:sp>
      <p:pic>
        <p:nvPicPr>
          <p:cNvPr id="6" name="Picture 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34840"/>
            <a:ext cx="960120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00784" y="4434840"/>
            <a:ext cx="6858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600" b="1">
                <a:solidFill>
                  <a:srgbClr val="22D3EE"/>
                </a:solidFill>
                <a:latin typeface="Space Grotesk"/>
                <a:ea typeface="Microsoft YaHei"/>
              </a:rPr>
              <a:t>n</a:t>
            </a:r>
            <a:r>
              <a:rPr sz="4600" b="1">
                <a:solidFill>
                  <a:srgbClr val="22D3EE"/>
                </a:solidFill>
                <a:latin typeface="Space Grotesk"/>
                <a:ea typeface="Microsoft YaHei"/>
              </a:rPr>
              <a:t>e</a:t>
            </a:r>
            <a:r>
              <a:rPr sz="4600" b="1">
                <a:solidFill>
                  <a:srgbClr val="8B5CF6"/>
                </a:solidFill>
                <a:latin typeface="Space Grotesk"/>
                <a:ea typeface="Microsoft YaHei"/>
              </a:rPr>
              <a:t>I</a:t>
            </a:r>
            <a:r>
              <a:rPr sz="4600" b="1">
                <a:solidFill>
                  <a:srgbClr val="EC4899"/>
                </a:solidFill>
                <a:latin typeface="Space Grotesk"/>
                <a:ea typeface="Microsoft YaHei"/>
              </a:rPr>
              <a:t>P</a:t>
            </a:r>
            <a:r>
              <a:rPr sz="4600" b="1">
                <a:solidFill>
                  <a:srgbClr val="EC4899"/>
                </a:solidFill>
                <a:latin typeface="Space Grotesk"/>
                <a:ea typeface="Microsoft YaHei"/>
              </a:rPr>
              <a:t>.</a:t>
            </a:r>
            <a:r>
              <a:rPr sz="4600" b="1">
                <a:solidFill>
                  <a:srgbClr val="F472B6"/>
                </a:solidFill>
                <a:latin typeface="Space Grotesk"/>
                <a:ea typeface="Microsoft YaHei"/>
              </a:rPr>
              <a:t>i</a:t>
            </a:r>
            <a:r>
              <a:rPr sz="4600" b="1">
                <a:solidFill>
                  <a:srgbClr val="FB7185"/>
                </a:solidFill>
                <a:latin typeface="Space Grotesk"/>
                <a:ea typeface="Microsoft YaHei"/>
              </a:rPr>
              <a:t>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532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2D3EE"/>
                </a:solidFill>
                <a:latin typeface="Microsoft YaHei"/>
                <a:ea typeface="Microsoft YaHei"/>
              </a:rPr>
              <a:t>网红 IP 发币 · 连接粉丝 · 价值共创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436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72B6"/>
                </a:solidFill>
                <a:latin typeface="Space Grotesk"/>
                <a:ea typeface="Microsoft YaHei"/>
              </a:rPr>
              <a:t>oneIP.io</a:t>
            </a:r>
            <a:r>
              <a:rPr sz="1400" b="0">
                <a:solidFill>
                  <a:srgbClr val="7A6F96"/>
                </a:solidFill>
                <a:latin typeface="Space Grotesk"/>
                <a:ea typeface="Microsoft YaHei"/>
              </a:rPr>
              <a:t>　/　</a:t>
            </a:r>
            <a:r>
              <a:rPr sz="1400" b="1">
                <a:solidFill>
                  <a:srgbClr val="22D3EE"/>
                </a:solidFill>
                <a:latin typeface="Space Grotesk"/>
                <a:ea typeface="Microsoft YaHei"/>
              </a:rPr>
              <a:t>oneIP.ai</a:t>
            </a:r>
            <a:r>
              <a:rPr sz="1300" b="0">
                <a:solidFill>
                  <a:srgbClr val="A99FC0"/>
                </a:solidFill>
                <a:latin typeface="Space Grotesk"/>
                <a:ea typeface="Microsoft YaHei"/>
              </a:rPr>
              <a:t>　　bossses001@gmail.com</a:t>
            </a:r>
          </a:p>
        </p:txBody>
      </p:sp>
      <p:pic>
        <p:nvPicPr>
          <p:cNvPr id="10" name="Picture 9" descr="on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783080"/>
            <a:ext cx="3200400" cy="3867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
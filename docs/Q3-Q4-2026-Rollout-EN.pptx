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ROLLOUT · INTERNAL TEAM PLAN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8288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</a:t>
            </a:r>
            <a:pPr indent="0" marL="0">
              <a:buNone/>
            </a:pPr>
            <a:r>
              <a:rPr lang="en-US" sz="5000" b="1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</a:t>
            </a:r>
            <a:pPr indent="0" marL="0">
              <a:buNone/>
            </a:pPr>
            <a:r>
              <a:rPr lang="en-US" sz="5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Film Studio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revenue engines, one AI toolchain — Q3–Q4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406908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690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81528" y="4069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1528" y="4069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406908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40690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      </a:t>
            </a:r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→ Q4 2026        </a:t>
            </a:r>
            <a:pPr indent="0" marL="0">
              <a:buNone/>
            </a:pPr>
            <a:r>
              <a:rPr lang="en-US" sz="12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one AI toolchain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6968" y="2331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— OPC training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86968" y="280720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offline classes and digital content that teach people to run as AI-powered one-person companies.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37033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Learners, then B2B / edu partners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 (Chat · Cowork · Video Studio) + openIP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fees + recurring tool subscriptions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44768" y="1783080"/>
            <a:ext cx="5257800" cy="3108960"/>
          </a:xfrm>
          <a:prstGeom prst="roundRect">
            <a:avLst>
              <a:gd name="adj" fmla="val 2647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64808" y="2331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Film Studio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64808" y="280720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AI-made films, two paths: train OPCs to make films, and produce films for enterprise / SME with investment raised per movie.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4808" y="370332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 (separate)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SME clients; per-film backers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fees + per-film funding + licensing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120640"/>
            <a:ext cx="10835640" cy="868680"/>
          </a:xfrm>
          <a:prstGeom prst="roundRect">
            <a:avLst>
              <a:gd name="adj" fmla="val 9474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" y="5120640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 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→ OPCs on Cora AI Gateway + openIP (recurring) → creators monetize on openIP → top OPCs staff the Film Studio → films market the next cohort.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does what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02152" cy="269748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11680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1225296" y="1956816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25146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· everyday AI work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6968" y="2880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general AI assistant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— agentic AI work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Studio — short reels &amp; content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86968" y="3977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977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53128" y="1737360"/>
            <a:ext cx="3502152" cy="269748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2011680"/>
            <a:ext cx="237744" cy="237744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5111496" y="1956816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73168" y="25146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· monetization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73168" y="2880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Creator-IP tokenization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storefront + AI-clone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terminal (SEA / WebTVAsia)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3977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3977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39328" y="1737360"/>
            <a:ext cx="3502152" cy="269748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59368" y="2011680"/>
            <a:ext cx="237744" cy="237744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8997696" y="1956816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659368" y="25146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Studio · premium reels + film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59368" y="2880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Studio-grade production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reels AND full films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 monetizes the film 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59368" y="3977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24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9368" y="3977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636008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241A3D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" y="463600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Studio: up to 80% cost reduction — same top-notch quality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5312664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86968" y="5312664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video lanes 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reels &amp; AI work → 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premium reels + films → </a:t>
            </a:r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monetize → </a:t>
            </a:r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OPC segments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48840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47088" y="2011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(S1)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7088" y="2542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an AI career, or no job after graduation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38928" y="2103120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67528" y="20482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67528" y="23042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Accelerator — cohort, high volume, scholarship / income-share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401568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3721608"/>
            <a:ext cx="731520" cy="7315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3721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47088" y="3584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Professionals, 35–55 (S2)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47088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AI; want it for work or to open a business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38928" y="3675888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67528" y="36210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67528" y="387705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Professionals / "Second Act" — premium, offline, HRD Corp claimable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974336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5294376"/>
            <a:ext cx="731520" cy="73152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52943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47088" y="51572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/ KOL (S3)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47088" y="5687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 audience &amp; content; make AI films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38928" y="5248656"/>
            <a:ext cx="0" cy="822960"/>
          </a:xfrm>
          <a:prstGeom prst="line">
            <a:avLst/>
          </a:prstGeom>
          <a:noFill/>
          <a:ln w="12700">
            <a:solidFill>
              <a:srgbClr val="3A2E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67528" y="5193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7528" y="544982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Monetization + AI Studio — revenue-share, done-with-you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· 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value ladder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576072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01952"/>
            <a:ext cx="493776" cy="49377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019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35608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OPC 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35608" y="2185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· online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98848" y="18653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trike="sngStrike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RM999  </a:t>
            </a:r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RM299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61688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 seats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2660904"/>
            <a:ext cx="608076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9264" y="2807208"/>
            <a:ext cx="493776" cy="49377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2807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36776" y="27797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Launch Bootcamp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36776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· online + lab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0056" y="27706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RM3,999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82896" y="3118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scholarship RM1,799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9264" y="3566160"/>
            <a:ext cx="640080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70432" y="3712464"/>
            <a:ext cx="493776" cy="49377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3712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37944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OPC Certificate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37944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· cohort + mentorship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41264" y="36758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RM18,000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04104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RM1,500/mo · S1 RM12,000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70432" y="4471416"/>
            <a:ext cx="672084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71600" y="4617720"/>
            <a:ext cx="493776" cy="493776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4617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39112" y="45902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OPC Diploma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039112" y="49011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· + practicum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62472" y="45811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RM32,000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25312" y="4928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RM16,000/yr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5376672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1B1232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72768" y="5522976"/>
            <a:ext cx="493776" cy="493776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4" name="Text 32"/>
          <p:cNvSpPr/>
          <p:nvPr/>
        </p:nvSpPr>
        <p:spPr>
          <a:xfrm>
            <a:off x="1572768" y="5522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40280" y="54955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OPC Mastery — Founder Track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40280" y="5806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· + paid studio work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83680" y="54864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RM48,000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6520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RM12,000/yr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41080" y="2286000"/>
            <a:ext cx="2980944" cy="3383280"/>
          </a:xfrm>
          <a:prstGeom prst="roundRect">
            <a:avLst>
              <a:gd name="adj" fmla="val 2761"/>
            </a:avLst>
          </a:prstGeom>
          <a:solidFill>
            <a:srgbClr val="241A3D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91540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RUNG BUNDLES THE OPC TOOLS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15400" y="3108960"/>
            <a:ext cx="2432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 + openIP come bundled at every rung — so course revenue converts into recurring tool revenue.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Per-year cost falls as commitment rises (RM18k → RM16k → RM12k/yr).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·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Segment-based pricing &amp; fixed bundles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114800"/>
          </a:xfrm>
          <a:prstGeom prst="roundRect">
            <a:avLst>
              <a:gd name="adj" fmla="val 133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11064240" cy="658368"/>
          </a:xfrm>
          <a:prstGeom prst="rect">
            <a:avLst/>
          </a:prstGeom>
          <a:solidFill>
            <a:srgbClr val="241A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 (duration)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6916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(S2)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· HRD Corp claimable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(S1)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/ income-share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35440" y="16916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(individual plan)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50008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Discovery (2 hr)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0" y="2350008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RM999 → RM299 (first 20)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92240" y="2350008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top of funnel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235440" y="2350008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Gateway trial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041294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41294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Bootcamp (2 wk)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49040" y="3041294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RM3,999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3041294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RM1,799 / income-share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235440" y="3041294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 Gateway (individual)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3732581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32581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Certificate (1 yr)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49040" y="3732581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RM18,000 (RM1,500/mo)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3732581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RM12,000 (RM1,000/mo)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5440" y="3732581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 Gateway + openIP creator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423867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23867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Diploma (2 yr)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49040" y="4423867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RM32,000 (rare for S2)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92240" y="4423867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RM32,000 via income-share 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4423867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Film Studio practicum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5115154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15154"/>
            <a:ext cx="27432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Mastery (4 yr)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49040" y="5115154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RM48,000 (rare for S2)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5115154"/>
            <a:ext cx="2468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income-share + paid studio work ★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35440" y="5115154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tools + paid work + trainer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Diploma &amp; Mastery are the graduate (S1) flagship — the career / degree-alternative.  Bundles use the individual (consumer) plan, never the $500/mo Growth tier — protecting ~70% B2C margin.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COMPETITIVE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pricing sits in the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114800"/>
          </a:xfrm>
          <a:prstGeom prst="roundRect">
            <a:avLst>
              <a:gd name="adj" fmla="val 133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11064240" cy="658368"/>
          </a:xfrm>
          <a:prstGeom prst="rect">
            <a:avLst/>
          </a:prstGeom>
          <a:solidFill>
            <a:srgbClr val="241A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(MY / SG, 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6916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0" y="16916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50008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corporate AI workshop (1–2 days)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0" y="2350008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RM2,000–8,000/pax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223760" y="2350008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(2 wks) RM3,999 — more program, on-market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041294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41294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MDEC AI Skills Training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3041294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RM5,500/pax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0" y="3041294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Public-agency benchmark (HRD Corp claimable)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732581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2581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diploma programs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732581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RM15,000–30,000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23760" y="3732581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RM18k / Diploma RM32k sit in-band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423867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23867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bachelor's (UniKL AI, part-time)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4423867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RM76,800 total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4423867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RM48k = accessible degree-alternative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5115154"/>
            <a:ext cx="10881360" cy="0"/>
          </a:xfrm>
          <a:prstGeom prst="line">
            <a:avLst/>
          </a:prstGeom>
          <a:noFill/>
          <a:ln w="9525">
            <a:solidFill>
              <a:srgbClr val="3A2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15154"/>
            <a:ext cx="38404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short GenAI (~21 hrs)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5115154"/>
            <a:ext cx="210312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S$2,180 (nett ~S$650 subsidised)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23760" y="5115154"/>
            <a:ext cx="42976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runs 2–3× MY; heavy learner subsidy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= employer-funded (HRD Corp) → our S2 pricing targets it. SG = learner-subsidised (SkillsFuture). Our long programs sit below diplomas/degrees yet let students earn during study.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· 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Ascension pathways &amp; target conversion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CLIMBS TO THE TOP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32688" y="251460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2423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Graduates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2752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Diploma / Mastery (2–4 yr) — the flagship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3474720"/>
            <a:ext cx="201168" cy="20116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Professionals 35–55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37124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Certificate (1 yr)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4434840"/>
            <a:ext cx="201168" cy="20116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8448" y="4343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Influencers / KOL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8448" y="46725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Certificate + revenue-share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three ascension tracks off one intro — each pointing at the ceiling that segment actually buys.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19088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3912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CONVERSION AT EACH STEP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9128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02168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 → Discover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9128" y="3118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02168" y="31638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Bootcamp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39128" y="3813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02168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→ Certificate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39128" y="45079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02168" y="45537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→ Diploma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39128" y="52029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02168" y="52486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→ Mastery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FILM STUDIO ·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it, or master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241A3D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28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80% cost reduction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779008" y="16916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top-notch film quality — for reels and full films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· DFY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your film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3931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SME / busy KOL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service (per-film / retainer)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fees + per-film funding + licensing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80% cheaper, top quality, no learning curve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92608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56248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· DIY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6248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films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56248" y="3931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OPCs (S1 flagship), creators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OPC Mastery — Founder Track + Film Studio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+ tool subscription + they fulfil DFY work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capability; earn per project; join our bench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54406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synthesis   </a:t>
            </a:r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DFY to clients → fulfil with a bench of DIY-trained Mastery graduates → scale production without full-time hires. Two front doors to one tool.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 &amp; the bridge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241A3D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NORTH STAR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2240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monetizing — students earning income with AI (e.g. ≥ RM500/mo)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Academy (marketing), drives Tools retention, and justifies premium pricing — at once. Financial twin: blended MRR.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paying tool subscriber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48920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flywheel's core conversion. If this breaks, we're just a course seller.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531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731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LTV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48920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ladder LTV + tool subscription LTV per student.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39328" y="3520440"/>
            <a:ext cx="3502152" cy="2377440"/>
          </a:xfrm>
          <a:prstGeom prst="roundRect">
            <a:avLst>
              <a:gd name="adj" fmla="val 34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59368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59368" y="41605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Graduate-earning rate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59368" y="48920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metric that lowers CAC and raises pricing power.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scorecards: Academy vs AI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249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615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economics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signups (paid)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7024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≥100 · Q4 ≥500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33969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per intro buyer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70248" y="33969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RM120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intro conv.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70248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40645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ascension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70248" y="40645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targets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70248" y="4398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47320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70248" y="47320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5065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rate (job/OPC/RM)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70248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 @ 90d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53995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LTV : CAC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70248" y="53995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: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4476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4808" y="1993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64808" y="22494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64808" y="2615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 + openIP · recurring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64808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rate (activate tool)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48088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64808" y="33969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@30d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48088" y="33969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64808" y="3730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Post-bundle paid conv.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48088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64808" y="40645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MRR / ARR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848088" y="40645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MoM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64808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48088" y="43982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64808" y="47320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48088" y="47320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64808" y="5065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 GMV &amp; creators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48088" y="50657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MoM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64808" y="53995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848088" y="53995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B2C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· Jul–Sep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24528" y="53035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4528" y="5303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BUILD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weeks in. Prove demand with small paid pilots — not scale. Every milestone has a measurable exit.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701437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1481328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1481328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MVP v0 — one flagship track per segment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48088" y="1609997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088" y="160999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177578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2397687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2177578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04288" y="2177578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Gateway "learner mode" — onboarding + usage dashboard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48088" y="2306247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8088" y="230624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2873829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3093938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2873829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Q3-FS1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04288" y="2873829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Cora AI Film Studio into our stack — bring into repo, wire access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48088" y="300249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300249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570079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3790188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856" y="3570079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04288" y="3570079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 #1 (paid, small) — blended online + offline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848088" y="369874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8088" y="36987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5–30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66329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536" y="4486438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856" y="4266329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04288" y="4266329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PoC #1 on Cora AI Film Studio — one short, end-to-end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848088" y="439499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48088" y="439499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962579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9536" y="5182689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1133856" y="4962579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04288" y="4962579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 creator pilot — 3–5 KOLs, storefront + AI-clone live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848088" y="509124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48088" y="509124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5658830"/>
            <a:ext cx="11064240" cy="604810"/>
          </a:xfrm>
          <a:prstGeom prst="roundRect">
            <a:avLst>
              <a:gd name="adj" fmla="val 105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5878939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42"/>
          <p:cNvSpPr/>
          <p:nvPr/>
        </p:nvSpPr>
        <p:spPr>
          <a:xfrm>
            <a:off x="1133856" y="5658830"/>
            <a:ext cx="109728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Q3-M6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04288" y="5658830"/>
            <a:ext cx="7315200" cy="604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&amp; compliance base — pricing + investment framing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848088" y="5787499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8088" y="5787499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30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EXIT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before we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Q4 scaling only if ALL of these clear. Miss any one → run an October hardening sprint before spending on growth.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79349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793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46888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paying learners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6208" y="24688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79349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7934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0608" y="246888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pilot completion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79476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86968" y="411937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119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379476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published short · known cost/min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36208" y="379476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6248" y="411937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4119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50608" y="379476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live openIP creators with sales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6968" y="544525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5445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81328" y="512064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 integrated &amp; working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36208" y="5120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1B1232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56248" y="5445252"/>
            <a:ext cx="402336" cy="402336"/>
          </a:xfrm>
          <a:prstGeom prst="ellipse">
            <a:avLst/>
          </a:prstGeom>
          <a:solidFill>
            <a:srgbClr val="11241C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5445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50608" y="512064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memo signed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Oct–Dec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224528" y="53035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241A3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4528" y="5303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MONETIZE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validated pilots into repeatable revenue, and land the first commercial film work.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657922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1481328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1481328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v1 — all 3 tracks complete + certificate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48088" y="1566482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8088" y="156648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090547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2267141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2090547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04288" y="2090547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#2 at scale — 150–300 learners, open enrolment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48088" y="2175701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8088" y="2175701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2699766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2876360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2699766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04288" y="2699766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expansion (S2) — 2–3 in-person workshops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48088" y="278492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2784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308985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3485578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26" name="Text 24"/>
          <p:cNvSpPr/>
          <p:nvPr/>
        </p:nvSpPr>
        <p:spPr>
          <a:xfrm>
            <a:off x="1133856" y="3308985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Q4-FS2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04288" y="3308985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 — client-delivery ready (productionize for paid work)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848088" y="339413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48088" y="339413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3918204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536" y="4094797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856" y="3918204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04288" y="3918204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Studio commercial pilot — deliver 2 paid client films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848088" y="4003357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48088" y="400335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30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527423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9536" y="4704016"/>
            <a:ext cx="164592" cy="16459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8" name="Text 36"/>
          <p:cNvSpPr/>
          <p:nvPr/>
        </p:nvSpPr>
        <p:spPr>
          <a:xfrm>
            <a:off x="1133856" y="4527423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04288" y="4527423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Per-film investment model live — compliant + 1 funded film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848088" y="4612576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48088" y="46125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5136642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59536" y="5313235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4" name="Text 42"/>
          <p:cNvSpPr/>
          <p:nvPr/>
        </p:nvSpPr>
        <p:spPr>
          <a:xfrm>
            <a:off x="1133856" y="5136642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04288" y="5136642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openIP × Film IP — monetize one film's IP / merch / tokens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848088" y="5221795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8088" y="5221795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5745861"/>
            <a:ext cx="11064240" cy="517779"/>
          </a:xfrm>
          <a:prstGeom prst="roundRect">
            <a:avLst>
              <a:gd name="adj" fmla="val 12362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59536" y="5922454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0" name="Text 48"/>
          <p:cNvSpPr/>
          <p:nvPr/>
        </p:nvSpPr>
        <p:spPr>
          <a:xfrm>
            <a:off x="1133856" y="5745861"/>
            <a:ext cx="109728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Q4-M7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304288" y="5745861"/>
            <a:ext cx="7315200" cy="517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 &amp; 2027 plan — metrics, unit economics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848088" y="5831014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12101F"/>
          </a:solidFill>
          <a:ln w="12700">
            <a:solidFill>
              <a:srgbClr val="3A2E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48088" y="583101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 by December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150–300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enrolments in cohort #2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300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75888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6732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on a recurring Cora AI Gateway plan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1908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69340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films delivered + 1 funded per-film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45168" y="2194560"/>
            <a:ext cx="2697480" cy="2743200"/>
          </a:xfrm>
          <a:prstGeom prst="roundRect">
            <a:avLst>
              <a:gd name="adj" fmla="val 3051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28048" y="2651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619488" y="37490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openIP creators, growing fiat GMV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promote any per-film raise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1064240" cy="3383280"/>
          </a:xfrm>
          <a:prstGeom prst="roundRect">
            <a:avLst>
              <a:gd name="adj" fmla="val 2432"/>
            </a:avLst>
          </a:prstGeom>
          <a:solidFill>
            <a:srgbClr val="241A3D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COMPLIANCE GATE — "investment per movie"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288036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 profit or returns from others' effort can cross into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territory (the Howey line). openIP's own house rule already reflects this — we speak in terms of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→ utility / licensing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dividends, guaranteed returns, or "invest and profit."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43891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counsel to bless the structure (film-financing SOW, sponsorship, pre-sale, or licensing) AND the exact marketing language before any raise. Hard gate: Q3-M6 → Q4-M5.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&amp; how we hold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0312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78308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Academy + Film + 3 segments at once (thin team)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27648" y="178308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= one flagship track + one film PoC; sequence, don't parallelize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306324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274320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AI Film Studio built but not yet in our stack/repo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27648" y="274320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import + access wiring (Q3-FS1); integration, not a build; client work behind Q4-FS2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70332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402336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370332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sells but learners don't retain on the tool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27648" y="370332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Cora AI Gateway attach into the curriculum from lesson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6344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6968" y="498348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1298448" y="466344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Per-film "investment" framed as securities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27648" y="466344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 before any raise; counsel-approved language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5943600"/>
            <a:ext cx="201168" cy="20116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2" name="Text 20"/>
          <p:cNvSpPr/>
          <p:nvPr/>
        </p:nvSpPr>
        <p:spPr>
          <a:xfrm>
            <a:off x="1298448" y="5623560"/>
            <a:ext cx="4846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too high for price-sensitive Graduates (S1)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27648" y="562356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/ income-share + organic &amp; KOL funnels; keep S1 digital-first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EXECUTES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sequence &amp; operating rhythm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81528" y="2377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Curriculum, instructors, delivery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30998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81528" y="309981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ads, KOL, enrolment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38221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ascension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81528" y="38221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pitch, ladder conversions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4544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product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81528" y="45445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 + openIP provisioning, dashboards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52669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finance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81528" y="526694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LMS, CRM, KPI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17830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SEQUENCE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64808" y="228600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Ship the RM299 intro first — it's the ignition.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Lay rails: payments, LMS, CRM, auto tool-provisioning.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Build the Bootcamp while intro cohorts run.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Outline rungs 3–5; open a waitlist / deposit.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4768" y="402336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1B1232"/>
          </a:solidFill>
          <a:ln w="12700">
            <a:solidFill>
              <a:srgbClr val="3A2E5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4808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RHYTHM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64808" y="4526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signups, CAC, conversion, engagement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cohort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ascension, completion, attach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scorecards A+B+Bridge, MRR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99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LTV:CAC, NRR, North Star, reprice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1737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7889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52728" y="2697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real owner to each workstream.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4747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52728" y="3383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one flagship track + one segment to lead Q3 (start with cheapest reach — likely S3 / KOL).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41605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52728" y="4069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counsel review for film-investment framing now — long lead.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846320"/>
            <a:ext cx="457200" cy="45720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52728" y="47548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Cora AI Film Studio into our repo/stack (Q3-FS1) — the tool exists; this enables the Film PoC.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55321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52728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learner-usage dashboard in Cora AI Gateway.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Q3-Q4 2026 Product Rollout</dc:title>
  <dc:subject>PptxGenJS Presentation</dc:subject>
  <dc:creator>Founder</dc:creator>
  <cp:lastModifiedBy>Founder</cp:lastModifiedBy>
  <cp:revision>1</cp:revision>
  <dcterms:created xsi:type="dcterms:W3CDTF">2026-07-28T04:52:11Z</dcterms:created>
  <dcterms:modified xsi:type="dcterms:W3CDTF">2026-07-28T04:52:11Z</dcterms:modified>
</cp:coreProperties>
</file>
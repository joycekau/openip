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产品推进 · 内部团队计划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18288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学院</a:t>
            </a:r>
            <a:pPr indent="0" marL="0">
              <a:buNone/>
            </a:pPr>
            <a:r>
              <a:rPr lang="en-US" sz="5000" b="1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与  </a:t>
            </a:r>
            <a:pPr indent="0" marL="0">
              <a:buNone/>
            </a:pPr>
            <a:r>
              <a:rPr lang="en-US" sz="50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影视工作室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66928" y="3108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两大营收引擎,一套 AI 工具链 — 2026 Q3–Q4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4069080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241A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0690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Cora AI Gateway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81528" y="40690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41A3D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81528" y="40690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openIP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4069080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241A3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406908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Cora AI Film Studio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  </a:t>
            </a:r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创始人        </a:t>
            </a:r>
            <a:pPr indent="0" marL="0">
              <a:buNone/>
            </a:pPr>
            <a:r>
              <a:rPr lang="en-US" sz="120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  </a:t>
            </a:r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→ Q4 2026        </a:t>
            </a:r>
            <a:pPr indent="0" marL="0">
              <a:buNone/>
            </a:pPr>
            <a:r>
              <a:rPr lang="en-US" sz="120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  </a:t>
            </a:r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待评审草案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两大引擎,一套 AI 工具链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57800" cy="3108960"/>
          </a:xfrm>
          <a:prstGeom prst="roundRect">
            <a:avLst>
              <a:gd name="adj" fmla="val 2647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2039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6968" y="23317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学院 — 一人公司(OPC)培训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86968" y="280720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线上+线下课程与数字内容,教人以 AI 驱动的一人公司方式运营。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370332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付费方 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学员,之后拓展 B2B / 教育合作方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Cora AI Gateway(Chat · Cowork · Video Studio)+ openIP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 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课程费 + 工具订阅(经常性收入)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44768" y="1783080"/>
            <a:ext cx="5257800" cy="3108960"/>
          </a:xfrm>
          <a:prstGeom prst="roundRect">
            <a:avLst>
              <a:gd name="adj" fmla="val 2647"/>
            </a:avLst>
          </a:prstGeom>
          <a:solidFill>
            <a:srgbClr val="1B1232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64808" y="2039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 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64808" y="23317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影视工作室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64808" y="2807208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制作影片,两条路径:培训 OPC 自制影片;以及为企业/中小企业制作影片并按部影片募资。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64808" y="370332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Cora AI Film Studio(独立工具)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付费方 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企业/中小企业客户;单片投资方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 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制作费 + 单片募资 + 授权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5120640"/>
            <a:ext cx="10835640" cy="868680"/>
          </a:xfrm>
          <a:prstGeom prst="roundRect">
            <a:avLst>
              <a:gd name="adj" fmla="val 9474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968" y="5120640"/>
            <a:ext cx="10195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飞轮   </a:t>
            </a:r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 → OPC 使用 Cora AI Gateway + openIP(经常性收入)→ 创作者在 openIP 变现 → 顶尖 OPC 加入影视工作室 → 影片为下一期招生做营销。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产品架构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各工具分工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502152" cy="2697480"/>
          </a:xfrm>
          <a:prstGeom prst="roundRect">
            <a:avLst>
              <a:gd name="adj" fmla="val 3051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011680"/>
            <a:ext cx="237744" cy="23774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1225296" y="1956816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Cora AI Gateway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86968" y="251460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OPC · 日常 AI 工作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86968" y="2880360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 — 通用 AI 助手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— 智能体协作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 Studio — 短视频与内容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86968" y="39776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1241C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3977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已上线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53128" y="1737360"/>
            <a:ext cx="3502152" cy="2697480"/>
          </a:xfrm>
          <a:prstGeom prst="roundRect">
            <a:avLst>
              <a:gd name="adj" fmla="val 3051"/>
            </a:avLst>
          </a:prstGeom>
          <a:solidFill>
            <a:srgbClr val="1B1232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73168" y="2011680"/>
            <a:ext cx="237744" cy="23774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5111496" y="1956816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openIP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773168" y="251460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OPC · 变现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73168" y="2880360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创作者 IP 代币化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法币商店 + AI 分身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KOL 终端(东南亚 / WebTVAsia)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73168" y="39776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1241C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3977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已上线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39328" y="1737360"/>
            <a:ext cx="3502152" cy="2697480"/>
          </a:xfrm>
          <a:prstGeom prst="roundRect">
            <a:avLst>
              <a:gd name="adj" fmla="val 3051"/>
            </a:avLst>
          </a:prstGeom>
          <a:solidFill>
            <a:srgbClr val="1B1232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59368" y="2011680"/>
            <a:ext cx="237744" cy="237744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0" name="Text 18"/>
          <p:cNvSpPr/>
          <p:nvPr/>
        </p:nvSpPr>
        <p:spPr>
          <a:xfrm>
            <a:off x="8997696" y="1956816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Cora AI Film Studio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659368" y="251460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影视工作室 · 高端短片 + 成片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59368" y="2880360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工作室级制作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高端短片与成片皆可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openIP 变现影片 IP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59368" y="39776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1241C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59368" y="3977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已构建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4636008"/>
            <a:ext cx="11274552" cy="566928"/>
          </a:xfrm>
          <a:prstGeom prst="roundRect">
            <a:avLst>
              <a:gd name="adj" fmla="val 14516"/>
            </a:avLst>
          </a:prstGeom>
          <a:solidFill>
            <a:srgbClr val="241A3D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86968" y="463600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Cora AI Film Studio:成本最高可降 80% — 影片品质依旧顶级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" y="5312664"/>
            <a:ext cx="11274552" cy="566928"/>
          </a:xfrm>
          <a:prstGeom prst="roundRect">
            <a:avLst>
              <a:gd name="adj" fmla="val 14516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86968" y="5312664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两条视频路线   </a:t>
            </a:r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日常短视频与 AI 工作 → </a:t>
            </a:r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Cora AI Gateway</a:t>
            </a:r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高端短片 + 成片 → </a:t>
            </a:r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Cora AI Film Studio</a:t>
            </a:r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变现 → </a:t>
            </a:r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openIP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服务对象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 OPC 客群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148840"/>
            <a:ext cx="731520" cy="73152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7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47088" y="2011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毕业生(S1)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47088" y="25420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想从事 AI 职业,或毕业后暂未就业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38928" y="2103120"/>
            <a:ext cx="0" cy="822960"/>
          </a:xfrm>
          <a:prstGeom prst="line">
            <a:avLst/>
          </a:prstGeom>
          <a:noFill/>
          <a:ln w="12700">
            <a:solidFill>
              <a:srgbClr val="3A2E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67528" y="20482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67528" y="23042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职业加速营 — 同期班、走量、奖学金 / 收入分成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401568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6968" y="3721608"/>
            <a:ext cx="731520" cy="73152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37216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7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47088" y="35844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专业人士,35–55 岁(S2)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47088" y="4114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新手;想用于工作或创业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38928" y="3675888"/>
            <a:ext cx="0" cy="822960"/>
          </a:xfrm>
          <a:prstGeom prst="line">
            <a:avLst/>
          </a:prstGeom>
          <a:noFill/>
          <a:ln w="12700">
            <a:solidFill>
              <a:srgbClr val="3A2E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67528" y="36210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67528" y="387705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专业人士 AI /「第二人生」— 高端、线下、可 HRD Corp 报销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4974336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86968" y="5294376"/>
            <a:ext cx="731520" cy="73152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2" name="Text 20"/>
          <p:cNvSpPr/>
          <p:nvPr/>
        </p:nvSpPr>
        <p:spPr>
          <a:xfrm>
            <a:off x="886968" y="52943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7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847088" y="515721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网红 / KOL(S3)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47088" y="56875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变现受众与内容;制作 AI 影片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38928" y="5248656"/>
            <a:ext cx="0" cy="822960"/>
          </a:xfrm>
          <a:prstGeom prst="line">
            <a:avLst/>
          </a:prstGeom>
          <a:noFill/>
          <a:ln w="12700">
            <a:solidFill>
              <a:srgbClr val="3A2E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67528" y="51937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67528" y="544982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创作者变现 + AI 工作室 — 收入分成、陪跑代做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学院 · 产品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课程价值阶梯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5760720" cy="786384"/>
          </a:xfrm>
          <a:prstGeom prst="roundRect">
            <a:avLst>
              <a:gd name="adj" fmla="val 10465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01952"/>
            <a:ext cx="493776" cy="49377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9019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35608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 OPC 启蒙课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35608" y="21854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小时 · 线上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98848" y="186537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trike="sngStrike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RM999  </a:t>
            </a:r>
            <a:pPr algn="r" indent="0" marL="0">
              <a:buNone/>
            </a:pPr>
            <a:r>
              <a:rPr lang="en-US" sz="16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RM299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61688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20 席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2660904"/>
            <a:ext cx="6080760" cy="786384"/>
          </a:xfrm>
          <a:prstGeom prst="roundRect">
            <a:avLst>
              <a:gd name="adj" fmla="val 10465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9264" y="2807208"/>
            <a:ext cx="493776" cy="49377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969264" y="28072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36776" y="277977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OPC 启动训练营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36776" y="30906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周 · 线上 + 实操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0056" y="277063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RM3,999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82896" y="3118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 奖学金 RM1,799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69264" y="3566160"/>
            <a:ext cx="6400800" cy="786384"/>
          </a:xfrm>
          <a:prstGeom prst="roundRect">
            <a:avLst>
              <a:gd name="adj" fmla="val 10465"/>
            </a:avLst>
          </a:prstGeom>
          <a:solidFill>
            <a:srgbClr val="1B1232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170432" y="3712464"/>
            <a:ext cx="493776" cy="49377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1170432" y="37124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37944" y="3685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OPC 证书课程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37944" y="3995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年 · 同期班 + 导师制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41264" y="36758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RM18,000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04104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RM1,500/月 · S1 RM12,000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70432" y="4471416"/>
            <a:ext cx="6720840" cy="786384"/>
          </a:xfrm>
          <a:prstGeom prst="roundRect">
            <a:avLst>
              <a:gd name="adj" fmla="val 10465"/>
            </a:avLst>
          </a:prstGeom>
          <a:solidFill>
            <a:srgbClr val="1B1232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371600" y="4617720"/>
            <a:ext cx="493776" cy="493776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46177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039112" y="459028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OPC 文凭课程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039112" y="49011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年 · + 实习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62472" y="458114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RM32,000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25312" y="4928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RM16,000/年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71600" y="5376672"/>
            <a:ext cx="7040880" cy="786384"/>
          </a:xfrm>
          <a:prstGeom prst="roundRect">
            <a:avLst>
              <a:gd name="adj" fmla="val 10465"/>
            </a:avLst>
          </a:prstGeom>
          <a:solidFill>
            <a:srgbClr val="1B1232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572768" y="5522976"/>
            <a:ext cx="493776" cy="493776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34" name="Text 32"/>
          <p:cNvSpPr/>
          <p:nvPr/>
        </p:nvSpPr>
        <p:spPr>
          <a:xfrm>
            <a:off x="1572768" y="55229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240280" y="549554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OPC 精通 — 创始人轨道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240280" y="5806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年 · + 带薪工作室项目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83680" y="54864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RM48,000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46520" y="5833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RM12,000/年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641080" y="2286000"/>
            <a:ext cx="2980944" cy="3383280"/>
          </a:xfrm>
          <a:prstGeom prst="roundRect">
            <a:avLst>
              <a:gd name="adj" fmla="val 2761"/>
            </a:avLst>
          </a:prstGeom>
          <a:solidFill>
            <a:srgbClr val="241A3D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91540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每个层级都捆绑 OPC 工具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915400" y="3108960"/>
            <a:ext cx="24323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Cora AI Gateway + openIP 在每个层级随课捆绑 — 让课程收入转化为经常性工具收入。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承诺越长,每年单价越低(RM18k → RM16k → RM12k/年)。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学院 · 定价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分客群定价与固定捆绑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64240" cy="4114800"/>
          </a:xfrm>
          <a:prstGeom prst="roundRect">
            <a:avLst>
              <a:gd name="adj" fmla="val 133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91640"/>
            <a:ext cx="11064240" cy="658368"/>
          </a:xfrm>
          <a:prstGeom prst="rect">
            <a:avLst/>
          </a:prstGeom>
          <a:solidFill>
            <a:srgbClr val="241A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层级(时长)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49040" y="16916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专业人士(S2)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标准价 · 可 HRD Corp 报销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16916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毕业生(S1)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奖学金 / 收入分成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235440" y="16916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捆绑(个人版)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350008"/>
            <a:ext cx="27432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· 启蒙课(2 小时)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749040" y="2350008"/>
            <a:ext cx="2468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RM999 → RM299(前 20)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92240" y="2350008"/>
            <a:ext cx="2468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同价 — 引流入口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235440" y="2350008"/>
            <a:ext cx="22860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天 Gateway 试用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3041294"/>
            <a:ext cx="10881360" cy="0"/>
          </a:xfrm>
          <a:prstGeom prst="line">
            <a:avLst/>
          </a:prstGeom>
          <a:noFill/>
          <a:ln w="9525">
            <a:solidFill>
              <a:srgbClr val="3A2E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41294"/>
            <a:ext cx="27432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· 训练营(2 周)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49040" y="3041294"/>
            <a:ext cx="2468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RM3,999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92240" y="3041294"/>
            <a:ext cx="2468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RM1,799 / 收入分成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235440" y="3041294"/>
            <a:ext cx="22860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个月 Gateway(个人版)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" y="3732581"/>
            <a:ext cx="10881360" cy="0"/>
          </a:xfrm>
          <a:prstGeom prst="line">
            <a:avLst/>
          </a:prstGeom>
          <a:noFill/>
          <a:ln w="9525">
            <a:solidFill>
              <a:srgbClr val="3A2E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732581"/>
            <a:ext cx="27432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· 证书(1 年)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749040" y="3732581"/>
            <a:ext cx="2468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RM18,000(RM1,500/月)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0" y="3732581"/>
            <a:ext cx="2468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RM12,000(RM1,000/月)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235440" y="3732581"/>
            <a:ext cx="22860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个月 Gateway + openIP 创作者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" y="4423867"/>
            <a:ext cx="10881360" cy="0"/>
          </a:xfrm>
          <a:prstGeom prst="line">
            <a:avLst/>
          </a:prstGeom>
          <a:noFill/>
          <a:ln w="9525">
            <a:solidFill>
              <a:srgbClr val="3A2E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423867"/>
            <a:ext cx="27432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· 文凭(2 年)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749040" y="4423867"/>
            <a:ext cx="2468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RM32,000(S2 少见)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92240" y="4423867"/>
            <a:ext cx="2468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RM32,000 走收入分成 ★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35440" y="4423867"/>
            <a:ext cx="22860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+ 影视工作室实习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" y="5115154"/>
            <a:ext cx="10881360" cy="0"/>
          </a:xfrm>
          <a:prstGeom prst="line">
            <a:avLst/>
          </a:prstGeom>
          <a:noFill/>
          <a:ln w="9525">
            <a:solidFill>
              <a:srgbClr val="3A2E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115154"/>
            <a:ext cx="27432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· 精通(4 年)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749040" y="5115154"/>
            <a:ext cx="2468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RM48,000(S2 少见)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92240" y="5115154"/>
            <a:ext cx="2468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收入分成 + 带薪工作室项目 ★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235440" y="5115154"/>
            <a:ext cx="22860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全套工具 + 带薪项目 + 培训师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5989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文凭与精通是毕业生(S1)的旗舰 — 职业 / 学位替代路径。捆绑一律用个人版(而非 $500/月 Growth 版),以保住约 70% 的 B2C 毛利。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基准与竞品分析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我们的定价在市场中的位置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64240" cy="4114800"/>
          </a:xfrm>
          <a:prstGeom prst="roundRect">
            <a:avLst>
              <a:gd name="adj" fmla="val 133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91640"/>
            <a:ext cx="11064240" cy="658368"/>
          </a:xfrm>
          <a:prstGeom prst="rect">
            <a:avLst/>
          </a:prstGeom>
          <a:solidFill>
            <a:srgbClr val="241A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市场参照(大马 / 新加坡,2026)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0" y="16916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223760" y="169164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我们的定位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350008"/>
            <a:ext cx="38404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大马企业 AI 工作坊(1–2 天)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46320" y="2350008"/>
            <a:ext cx="21031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RM2,000–8,000/人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223760" y="2350008"/>
            <a:ext cx="42976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训练营(2 周)RM3,999 — 内容更多,合乎行情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" y="3041294"/>
            <a:ext cx="10881360" cy="0"/>
          </a:xfrm>
          <a:prstGeom prst="line">
            <a:avLst/>
          </a:prstGeom>
          <a:noFill/>
          <a:ln w="9525">
            <a:solidFill>
              <a:srgbClr val="3A2E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41294"/>
            <a:ext cx="38404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MDEC AI 技能培训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0" y="3041294"/>
            <a:ext cx="21031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RM5,500/人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223760" y="3041294"/>
            <a:ext cx="42976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公营机构基准(可 HRD Corp 报销)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3732581"/>
            <a:ext cx="10881360" cy="0"/>
          </a:xfrm>
          <a:prstGeom prst="line">
            <a:avLst/>
          </a:prstGeom>
          <a:noFill/>
          <a:ln w="9525">
            <a:solidFill>
              <a:srgbClr val="3A2E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32581"/>
            <a:ext cx="38404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大马文凭课程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3732581"/>
            <a:ext cx="21031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RM15,000–30,000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223760" y="3732581"/>
            <a:ext cx="42976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 RM18k / 文凭 RM32k 落在区间内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" y="4423867"/>
            <a:ext cx="10881360" cy="0"/>
          </a:xfrm>
          <a:prstGeom prst="line">
            <a:avLst/>
          </a:prstGeom>
          <a:noFill/>
          <a:ln w="9525">
            <a:solidFill>
              <a:srgbClr val="3A2E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23867"/>
            <a:ext cx="38404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大马学士(UniKL AI,兼读)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4423867"/>
            <a:ext cx="21031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合计约 RM76,800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23760" y="4423867"/>
            <a:ext cx="42976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精通 RM48k = 可负担的学位替代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" y="5115154"/>
            <a:ext cx="10881360" cy="0"/>
          </a:xfrm>
          <a:prstGeom prst="line">
            <a:avLst/>
          </a:prstGeom>
          <a:noFill/>
          <a:ln w="9525">
            <a:solidFill>
              <a:srgbClr val="3A2E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115154"/>
            <a:ext cx="38404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新加坡短期生成式 AI(约 21 小时)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46320" y="5115154"/>
            <a:ext cx="21031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S$2,180(补贴后净价约 S$650)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223760" y="5115154"/>
            <a:ext cx="42976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新加坡为大马 2–3 倍;对学员高额补贴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5989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大马靠雇主报销(HRD Corp)→ 我们的 S2 定价面向它。新加坡靠学员补贴(SkillsFuture)。我们的长课程定价低于文凭/学位,同时学员在学期间即可赚取收入。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学院 · 产品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晋升路径与目标转化率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并非人人爬到顶端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32688" y="2514600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1298448" y="2423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 — 毕业生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98448" y="27523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上限:文凭 / 精通(2–4 年)— 旗舰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2688" y="3474720"/>
            <a:ext cx="201168" cy="201168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0" name="Text 8"/>
          <p:cNvSpPr/>
          <p:nvPr/>
        </p:nvSpPr>
        <p:spPr>
          <a:xfrm>
            <a:off x="1298448" y="3383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— 专业人士 35–55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98448" y="37124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上限:证书(1 年)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2688" y="4434840"/>
            <a:ext cx="201168" cy="201168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98448" y="43434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 — 网红 / KOL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98448" y="46725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上限:证书 + 收入分成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5440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用一门启蒙课带出三条晋升路线 — 各自指向该客群真正会买的上限。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19088" y="1783080"/>
            <a:ext cx="5212080" cy="4297680"/>
          </a:xfrm>
          <a:prstGeom prst="roundRect">
            <a:avLst>
              <a:gd name="adj" fmla="val 1915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39128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各步骤目标转化率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39128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5–10%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02168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合格线索 → 启蒙课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39128" y="31181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20–30%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02168" y="31638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启蒙课 → 训练营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39128" y="38130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15–25%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02168" y="3858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训练营 → 证书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39128" y="45079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30–40%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02168" y="45537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 → 文凭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39128" y="52029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30–40%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02168" y="52486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文凭 → 精通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影视工作室 · 上市策略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委托制作,或亲自精通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241A3D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8288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成本最高可降 80%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779008" y="16916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影片品质依旧顶级 — 短片与成片皆适用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926080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1B1232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3154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1 · DFY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3429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我们替你制作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86968" y="39319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受众 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 / 中小企业 / 繁忙的 KOL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 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制作服务(单片 / 包月)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 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制作费 + 单片募资 + 授权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卖点 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最高便宜 80%、顶级品质、无学习门槛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2926080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56248" y="3154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2 · DIY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6248" y="3429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你自己制作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56248" y="39319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受众 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进取的 OPC(S1 旗舰)、创作者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 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OPC 精通 — 创始人轨道 + 影视工作室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 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学费 + 工具订阅 + 承接 DFY 项目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卖点 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掌握能力;按项目赚钱;加入我们的人才库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544068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6968" y="5440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协同效应   </a:t>
            </a:r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DFY 卖给客户 → 由受过 DIY 训练的精通课毕业生承接 → 无需全职招聘即可扩大产能。同一工具,两扇前门。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绩效指标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北极星指标与桥梁指标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241A3D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北极星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2688" y="22402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变现的毕业生 — 用 AI 赚取收入的学员(如 ≥ RM500/月)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72491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同时证明学院价值(营销)、驱动工具留存、并支撑溢价定价。财务孪生指标:综合 MRR。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520440"/>
            <a:ext cx="3502152" cy="2377440"/>
          </a:xfrm>
          <a:prstGeom prst="roundRect">
            <a:avLst>
              <a:gd name="adj" fmla="val 34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86968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" y="416052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 → 付费工具订阅者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" y="489204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飞轮的核心转化。若此环断裂,我们就只是卖课的。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53128" y="3520440"/>
            <a:ext cx="3502152" cy="2377440"/>
          </a:xfrm>
          <a:prstGeom prst="roundRect">
            <a:avLst>
              <a:gd name="adj" fmla="val 34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73168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73168" y="416052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 LTV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73168" y="489204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课程阶梯 LTV + 每位学员的工具订阅 LTV。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39328" y="3520440"/>
            <a:ext cx="3502152" cy="2377440"/>
          </a:xfrm>
          <a:prstGeom prst="roundRect">
            <a:avLst>
              <a:gd name="adj" fmla="val 34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59368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59368" y="416052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毕业生赚钱比例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59368" y="489204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 CAC、提升定价能力的证明性指标。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绩效指标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两张记分卡:学院 vs AI 工具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9933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记分卡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22494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学院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6968" y="26151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教育业务经济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3063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启蒙课付费报名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70248" y="3063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≥100 · Q4 ≥500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" y="33969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每位启蒙买家 CAC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70248" y="33969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RM120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6968" y="3730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 → 启蒙 转化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70248" y="37307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5–10%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968" y="40645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阶梯晋升率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70248" y="40645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按目标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968" y="43982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完课率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70248" y="43982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70%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968" y="47320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70248" y="47320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40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6968" y="50657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成果率(就业/OPC/收入)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70248" y="50657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30% @ 90天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968" y="53995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 LTV : CAC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70248" y="53995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3 : 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44768" y="178308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1B1232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64808" y="19933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记分卡 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64808" y="22494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工具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64808" y="26151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Cora AI Gateway + openIP · 经常性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64808" y="3063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绑定率(开通工具)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48088" y="3063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90%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64808" y="33969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天激活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48088" y="33969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60%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64808" y="3730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捆绑期后付费转化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848088" y="37307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40%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64808" y="40645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MRR / ARR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48088" y="40645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逐月增长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64808" y="43982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月流失率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848088" y="43982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5%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64808" y="47320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净收入留存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848088" y="47320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100%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64808" y="50657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openIP GMV 与创作者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848088" y="50657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逐月增长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64808" y="53995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毛利率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848088" y="53995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70% B2C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2026 · 7–9 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224528" y="530352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241A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24528" y="53035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验证并打基础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已推进约 4 周。用小规模付费试点验证需求 — 而非规模化。每个里程碑都有可量化的通过标准。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64240" cy="604810"/>
          </a:xfrm>
          <a:prstGeom prst="roundRect">
            <a:avLst>
              <a:gd name="adj" fmla="val 105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1701437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1133856" y="1481328"/>
            <a:ext cx="109728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Q3-M1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04288" y="1481328"/>
            <a:ext cx="731520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 MVP v0 — 每客群一条旗舰路线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848088" y="1609997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48088" y="1609997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8月15日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177578"/>
            <a:ext cx="11064240" cy="604810"/>
          </a:xfrm>
          <a:prstGeom prst="roundRect">
            <a:avLst>
              <a:gd name="adj" fmla="val 105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9536" y="2397687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1133856" y="2177578"/>
            <a:ext cx="109728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Q3-M2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04288" y="2177578"/>
            <a:ext cx="731520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Cora AI Gateway「学员模式」— 引导 + 用量看板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848088" y="2306247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8088" y="2306247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8月22日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2873829"/>
            <a:ext cx="11064240" cy="604810"/>
          </a:xfrm>
          <a:prstGeom prst="roundRect">
            <a:avLst>
              <a:gd name="adj" fmla="val 105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9536" y="3093938"/>
            <a:ext cx="164592" cy="16459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33856" y="2873829"/>
            <a:ext cx="109728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Q3-FS1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04288" y="2873829"/>
            <a:ext cx="731520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Cora AI Film Studio 接入技术栈 — 并入仓库、打通权限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848088" y="3002498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48088" y="300249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9月8日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3570079"/>
            <a:ext cx="11064240" cy="604810"/>
          </a:xfrm>
          <a:prstGeom prst="roundRect">
            <a:avLst>
              <a:gd name="adj" fmla="val 105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9536" y="3790188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1133856" y="3570079"/>
            <a:ext cx="109728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Q3-M3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04288" y="3570079"/>
            <a:ext cx="731520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首期试点班(付费、小规模)— 线上+线下混合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848088" y="3698748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48088" y="36987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9月5–30日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4266329"/>
            <a:ext cx="11064240" cy="604810"/>
          </a:xfrm>
          <a:prstGeom prst="roundRect">
            <a:avLst>
              <a:gd name="adj" fmla="val 105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9536" y="4486438"/>
            <a:ext cx="164592" cy="16459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32" name="Text 30"/>
          <p:cNvSpPr/>
          <p:nvPr/>
        </p:nvSpPr>
        <p:spPr>
          <a:xfrm>
            <a:off x="1133856" y="4266329"/>
            <a:ext cx="109728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Q3-M4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04288" y="4266329"/>
            <a:ext cx="731520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Cora AI Film Studio 首个影片 PoC — 一支短片,端到端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848088" y="4394998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48088" y="439499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9月15日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962579"/>
            <a:ext cx="11064240" cy="604810"/>
          </a:xfrm>
          <a:prstGeom prst="roundRect">
            <a:avLst>
              <a:gd name="adj" fmla="val 105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59536" y="5182689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8" name="Text 36"/>
          <p:cNvSpPr/>
          <p:nvPr/>
        </p:nvSpPr>
        <p:spPr>
          <a:xfrm>
            <a:off x="1133856" y="4962579"/>
            <a:ext cx="109728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Q3-M5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304288" y="4962579"/>
            <a:ext cx="731520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openIP 创作者试点 — 3–5 位 KOL,商店 + AI 分身上线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9848088" y="5091249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48088" y="5091249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9月20日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66928" y="5658830"/>
            <a:ext cx="11064240" cy="604810"/>
          </a:xfrm>
          <a:prstGeom prst="roundRect">
            <a:avLst>
              <a:gd name="adj" fmla="val 105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59536" y="5878939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4" name="Text 42"/>
          <p:cNvSpPr/>
          <p:nvPr/>
        </p:nvSpPr>
        <p:spPr>
          <a:xfrm>
            <a:off x="1133856" y="5658830"/>
            <a:ext cx="109728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Q3-M6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304288" y="5658830"/>
            <a:ext cx="731520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变现与合规基础 — 定价 + 募资表述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9848088" y="5787499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48088" y="5787499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9月30日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通过门槛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扩张前的放行判断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六项全部达标才进入 Q4 规模化。任一未达 → 先做 10 月加固冲刺,再投入增长。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793492"/>
            <a:ext cx="402336" cy="402336"/>
          </a:xfrm>
          <a:prstGeom prst="ellipse">
            <a:avLst/>
          </a:prstGeom>
          <a:solidFill>
            <a:srgbClr val="11241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7934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81328" y="246888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30 名付费学员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6208" y="246888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2793492"/>
            <a:ext cx="402336" cy="402336"/>
          </a:xfrm>
          <a:prstGeom prst="ellipse">
            <a:avLst/>
          </a:prstGeom>
          <a:solidFill>
            <a:srgbClr val="11241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27934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50608" y="246888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试点完课率 ≥ 70%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79476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86968" y="4119372"/>
            <a:ext cx="402336" cy="402336"/>
          </a:xfrm>
          <a:prstGeom prst="ellipse">
            <a:avLst/>
          </a:prstGeom>
          <a:solidFill>
            <a:srgbClr val="11241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41193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81328" y="379476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支发布短片 · 已知每分钟成本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36208" y="379476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56248" y="4119372"/>
            <a:ext cx="402336" cy="402336"/>
          </a:xfrm>
          <a:prstGeom prst="ellipse">
            <a:avLst/>
          </a:prstGeom>
          <a:solidFill>
            <a:srgbClr val="11241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41193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50608" y="379476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3+ 位有成交的 openIP 创作者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512064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86968" y="5445252"/>
            <a:ext cx="402336" cy="402336"/>
          </a:xfrm>
          <a:prstGeom prst="ellipse">
            <a:avLst/>
          </a:prstGeom>
          <a:solidFill>
            <a:srgbClr val="11241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54452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81328" y="512064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Cora AI Film Studio 已接入并可用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36208" y="512064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56248" y="5445252"/>
            <a:ext cx="402336" cy="402336"/>
          </a:xfrm>
          <a:prstGeom prst="ellipse">
            <a:avLst/>
          </a:prstGeom>
          <a:solidFill>
            <a:srgbClr val="11241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6248" y="54452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50608" y="512064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合规备忘录已签署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2026 · 10–12 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224528" y="530352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241A3D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24528" y="53035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规模化与变现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把验证过的试点转为可复制的收入,并拿下首批商业影片项目。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64240" cy="517779"/>
          </a:xfrm>
          <a:prstGeom prst="roundRect">
            <a:avLst>
              <a:gd name="adj" fmla="val 123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1657922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1133856" y="1481328"/>
            <a:ext cx="109728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Q4-M1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04288" y="1481328"/>
            <a:ext cx="731520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 v1 — 三条路线完成 + 证书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848088" y="1566482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48088" y="156648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10月24日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090547"/>
            <a:ext cx="11064240" cy="517779"/>
          </a:xfrm>
          <a:prstGeom prst="roundRect">
            <a:avLst>
              <a:gd name="adj" fmla="val 123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9536" y="2267141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1133856" y="2090547"/>
            <a:ext cx="109728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Q4-M2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04288" y="2090547"/>
            <a:ext cx="731520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第二期规模班 — 150–300 名学员,公开招生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848088" y="2175701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8088" y="2175701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10–12月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2699766"/>
            <a:ext cx="11064240" cy="517779"/>
          </a:xfrm>
          <a:prstGeom prst="roundRect">
            <a:avLst>
              <a:gd name="adj" fmla="val 123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9536" y="2876360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1133856" y="2699766"/>
            <a:ext cx="109728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Q4-M3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04288" y="2699766"/>
            <a:ext cx="731520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线下扩张(S2)— 2–3 场线下工作坊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848088" y="278492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48088" y="27849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11月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3308985"/>
            <a:ext cx="11064240" cy="517779"/>
          </a:xfrm>
          <a:prstGeom prst="roundRect">
            <a:avLst>
              <a:gd name="adj" fmla="val 123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9536" y="3485578"/>
            <a:ext cx="164592" cy="16459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6" name="Text 24"/>
          <p:cNvSpPr/>
          <p:nvPr/>
        </p:nvSpPr>
        <p:spPr>
          <a:xfrm>
            <a:off x="1133856" y="3308985"/>
            <a:ext cx="109728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Q4-FS2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04288" y="3308985"/>
            <a:ext cx="731520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Cora AI Film Studio — 达到客户交付标准(为付费项目产品化)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848088" y="3394138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48088" y="339413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11月10日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3918204"/>
            <a:ext cx="11064240" cy="517779"/>
          </a:xfrm>
          <a:prstGeom prst="roundRect">
            <a:avLst>
              <a:gd name="adj" fmla="val 123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9536" y="4094797"/>
            <a:ext cx="164592" cy="16459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32" name="Text 30"/>
          <p:cNvSpPr/>
          <p:nvPr/>
        </p:nvSpPr>
        <p:spPr>
          <a:xfrm>
            <a:off x="1133856" y="3918204"/>
            <a:ext cx="109728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Q4-M4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04288" y="3918204"/>
            <a:ext cx="731520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影视工作室商业试点 — 交付 2 部付费客户影片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848088" y="4003357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48088" y="4003357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11月30日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527423"/>
            <a:ext cx="11064240" cy="517779"/>
          </a:xfrm>
          <a:prstGeom prst="roundRect">
            <a:avLst>
              <a:gd name="adj" fmla="val 123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59536" y="4704016"/>
            <a:ext cx="164592" cy="16459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38" name="Text 36"/>
          <p:cNvSpPr/>
          <p:nvPr/>
        </p:nvSpPr>
        <p:spPr>
          <a:xfrm>
            <a:off x="1133856" y="4527423"/>
            <a:ext cx="109728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Q4-M5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304288" y="4527423"/>
            <a:ext cx="731520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单片投资模式上线 — 合规 + 1 部获资影片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9848088" y="4612576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48088" y="461257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12月5日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66928" y="5136642"/>
            <a:ext cx="11064240" cy="517779"/>
          </a:xfrm>
          <a:prstGeom prst="roundRect">
            <a:avLst>
              <a:gd name="adj" fmla="val 123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59536" y="5313235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4" name="Text 42"/>
          <p:cNvSpPr/>
          <p:nvPr/>
        </p:nvSpPr>
        <p:spPr>
          <a:xfrm>
            <a:off x="1133856" y="5136642"/>
            <a:ext cx="109728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Q4-M6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304288" y="5136642"/>
            <a:ext cx="731520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openIP × 影片 IP — 变现一部影片的 IP / 周边 / 代币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9848088" y="5221795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48088" y="5221795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12月12日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66928" y="5745861"/>
            <a:ext cx="11064240" cy="517779"/>
          </a:xfrm>
          <a:prstGeom prst="roundRect">
            <a:avLst>
              <a:gd name="adj" fmla="val 123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59536" y="5922454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0" name="Text 48"/>
          <p:cNvSpPr/>
          <p:nvPr/>
        </p:nvSpPr>
        <p:spPr>
          <a:xfrm>
            <a:off x="1133856" y="5745861"/>
            <a:ext cx="109728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Q4-M7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304288" y="5745861"/>
            <a:ext cx="731520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年度复盘与 2027 规划 — 指标、单位经济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9848088" y="5831014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48088" y="583101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12月20日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 12 月的理想成绩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2697480" cy="2743200"/>
          </a:xfrm>
          <a:prstGeom prst="roundRect">
            <a:avLst>
              <a:gd name="adj" fmla="val 3051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2651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150–300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第二期付费报名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3008" y="2194560"/>
            <a:ext cx="2697480" cy="2743200"/>
          </a:xfrm>
          <a:prstGeom prst="roundRect">
            <a:avLst>
              <a:gd name="adj" fmla="val 3051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75888" y="2651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60%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767328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学员开通 Cora AI Gateway 订阅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19088" y="2194560"/>
            <a:ext cx="2697480" cy="2743200"/>
          </a:xfrm>
          <a:prstGeom prst="roundRect">
            <a:avLst>
              <a:gd name="adj" fmla="val 3051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01968" y="2651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+ 1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693408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交付客户影片 + 1 部单片募资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45168" y="2194560"/>
            <a:ext cx="2697480" cy="2743200"/>
          </a:xfrm>
          <a:prstGeom prst="roundRect">
            <a:avLst>
              <a:gd name="adj" fmla="val 3051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28048" y="2651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15+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619488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 openIP 创作者,法币 GMV 增长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B7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在推广任何单片募资之前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1064240" cy="3383280"/>
          </a:xfrm>
          <a:prstGeom prst="roundRect">
            <a:avLst>
              <a:gd name="adj" fmla="val 2432"/>
            </a:avLst>
          </a:prstGeom>
          <a:solidFill>
            <a:srgbClr val="241A3D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7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 合规门槛 —「单片投资」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24128" y="288036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承诺以他人努力换取利润或回报,可能落入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B7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范畴(Howey 标准)。openIP 自身规则已体现这一点 — 我们只讲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 → 效用 / 授权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,绝不讲分红、保证回报或「投资获利」。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4128" y="43891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任何募资前,先由律师确认结构(影片融资 SOW、赞助、预售或授权)与确切的营销措辞。硬性门槛:Q3-M6 → Q4-M5。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B7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潜在风险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主要风险与应对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103120"/>
            <a:ext cx="201168" cy="20116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1783080"/>
            <a:ext cx="4846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同时做学院 + 影视 + 3 客群(团队精简)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27648" y="178308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= 一条旗舰路线 + 一个影片 PoC;分步推进,勿并行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74320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6968" y="3063240"/>
            <a:ext cx="201168" cy="20116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0" name="Text 8"/>
          <p:cNvSpPr/>
          <p:nvPr/>
        </p:nvSpPr>
        <p:spPr>
          <a:xfrm>
            <a:off x="1298448" y="2743200"/>
            <a:ext cx="4846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Cora AI Film Studio 已构建但尚未进入技术栈/仓库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27648" y="274320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优先接入与权限打通(Q3-FS1);属集成而非从零构建;客户项目排在 Q4-FS2 之后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70332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6968" y="4023360"/>
            <a:ext cx="201168" cy="20116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4" name="Text 12"/>
          <p:cNvSpPr/>
          <p:nvPr/>
        </p:nvSpPr>
        <p:spPr>
          <a:xfrm>
            <a:off x="1298448" y="3703320"/>
            <a:ext cx="4846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课程能卖但学员不留在工具上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27648" y="370332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从第一课起把 Cora AI Gateway 融入课程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66344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6968" y="4983480"/>
            <a:ext cx="201168" cy="20116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8" name="Text 16"/>
          <p:cNvSpPr/>
          <p:nvPr/>
        </p:nvSpPr>
        <p:spPr>
          <a:xfrm>
            <a:off x="1298448" y="4663440"/>
            <a:ext cx="4846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单片「投资」被认定为证券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27648" y="466344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任何募资前先过合规门槛;仅用律师批准的措辞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62356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86968" y="5943600"/>
            <a:ext cx="201168" cy="20116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2" name="Text 20"/>
          <p:cNvSpPr/>
          <p:nvPr/>
        </p:nvSpPr>
        <p:spPr>
          <a:xfrm>
            <a:off x="1298448" y="5623560"/>
            <a:ext cx="4846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对价格敏感的毕业生(S1),获客成本过高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27648" y="562356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奖学金 / 收入分成 + 自然流量与 KOL 漏斗;S1 以线上为主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团队如何执行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角色、顺序与运营节奏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谁负责什么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课程负责人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081528" y="2377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课程、讲师、交付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309981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81528" y="309981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漏斗、广告、KOL、招生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38221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 / 晋升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81528" y="382219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启蒙课转化、阶梯升级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" y="45445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/ 产品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81528" y="45445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Cora + openIP 开通、看板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" y="526694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 / 财务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081528" y="526694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支付、LMS、CRM、KPI 看板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44768" y="1783080"/>
            <a:ext cx="5486400" cy="2057400"/>
          </a:xfrm>
          <a:prstGeom prst="roundRect">
            <a:avLst>
              <a:gd name="adj" fmla="val 4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64808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构建顺序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64808" y="228600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先推出 RM299 启蒙课 — 这是点火器。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铺设底座:支付、LMS、CRM、自动开通工具。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启蒙课开班期间同步搭建训练营。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拟定 3–5 层级;开放候补 / 订金。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44768" y="4023360"/>
            <a:ext cx="5486400" cy="2057400"/>
          </a:xfrm>
          <a:prstGeom prst="roundRect">
            <a:avLst>
              <a:gd name="adj" fmla="val 4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64808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运营节奏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64808" y="452628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报名、CAC、转化、活跃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每期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晋升、完课、绑定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完整记分卡 A+B+桥梁、MRR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每季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99F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LTV:CAC、NRR、北极星、重新定价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80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1737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即刻行动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78892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52728" y="2697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为每条工作流指定负责人。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347472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52728" y="33832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 Q3 主打的一条旗舰路线 + 一个客群(从获客最便宜处入手 — 很可能是 S3 / KOL)。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416052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52728" y="40690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立即预约影片募资表述的法律审查 — 周期长。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4846320"/>
            <a:ext cx="457200" cy="45720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52728" y="47548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Cora AI Film Studio 接入仓库/技术栈(Q3-FS1)— 工具已存在;这将启用影片 PoC。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66928" y="553212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52728" y="5440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EF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Cora AI Gateway 中搭建学员用量看板。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Q3-Q4 2026 Product Rollout</dc:title>
  <dc:subject>PptxGenJS Presentation</dc:subject>
  <dc:creator>Founder</dc:creator>
  <cp:lastModifiedBy>Founder</cp:lastModifiedBy>
  <cp:revision>1</cp:revision>
  <dcterms:created xsi:type="dcterms:W3CDTF">2026-07-28T04:52:11Z</dcterms:created>
  <dcterms:modified xsi:type="dcterms:W3CDTF">2026-07-28T04:52:11Z</dcterms:modified>
</cp:coreProperties>
</file>
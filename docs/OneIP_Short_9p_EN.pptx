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Segoe UI"/>
              </a:rPr>
              <a:t>Annual Revenue (scale scenario)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(US$ M)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</c:spPr>
          </c:dPt>
          <c:dPt>
            <c:idx val="1"/>
            <c:spPr>
              <a:solidFill>
                <a:srgbClr val="EC4899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25</c:v>
                </c:pt>
                <c:pt idx="2">
                  <c:v>150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STORY DECK · 9 PAGES</a:t>
            </a:r>
          </a:p>
        </p:txBody>
      </p:sp>
      <p:pic>
        <p:nvPicPr>
          <p:cNvPr id="4" name="Picture 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9384" y="1024128"/>
            <a:ext cx="6858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66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66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66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66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66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66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22D3EE"/>
                </a:solidFill>
                <a:latin typeface="Space Grotesk"/>
                <a:ea typeface="Segoe UI"/>
              </a:rPr>
              <a:t>OneIP</a:t>
            </a:r>
            <a:r>
              <a:rPr sz="3300" b="0">
                <a:solidFill>
                  <a:srgbClr val="7A6F96"/>
                </a:solidFill>
                <a:latin typeface="Space Grotesk"/>
                <a:ea typeface="Segoe UI"/>
              </a:rPr>
              <a:t> + </a:t>
            </a:r>
            <a:r>
              <a:rPr sz="3300" b="1">
                <a:solidFill>
                  <a:srgbClr val="F472B6"/>
                </a:solidFill>
                <a:latin typeface="Space Grotesk"/>
                <a:ea typeface="Segoe UI"/>
              </a:rPr>
              <a:t>OPC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8046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pace Grotesk"/>
                <a:ea typeface="Segoe UI"/>
              </a:rPr>
              <a:t>OPC = One Personal Company</a:t>
            </a: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  ·  you are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472B6"/>
                </a:solidFill>
                <a:latin typeface="Space Grotesk"/>
                <a:ea typeface="Segoe UI"/>
              </a:rPr>
              <a:t>Launch Brand IP</a:t>
            </a:r>
            <a:r>
              <a:rPr sz="1800" b="0">
                <a:solidFill>
                  <a:srgbClr val="7A6F96"/>
                </a:solidFill>
                <a:latin typeface="Space Grotesk"/>
                <a:ea typeface="Segoe UI"/>
              </a:rPr>
              <a:t> · </a:t>
            </a:r>
            <a:r>
              <a:rPr sz="1800" b="1">
                <a:solidFill>
                  <a:srgbClr val="22D3EE"/>
                </a:solidFill>
                <a:latin typeface="Space Grotesk"/>
                <a:ea typeface="Segoe UI"/>
              </a:rPr>
              <a:t>Connect Fans</a:t>
            </a:r>
            <a:r>
              <a:rPr sz="1800" b="0">
                <a:solidFill>
                  <a:srgbClr val="7A6F96"/>
                </a:solidFill>
                <a:latin typeface="Space Grotesk"/>
                <a:ea typeface="Segoe UI"/>
              </a:rPr>
              <a:t> · </a:t>
            </a:r>
            <a:r>
              <a:rPr sz="1800" b="1">
                <a:solidFill>
                  <a:srgbClr val="8B5CF6"/>
                </a:solidFill>
                <a:latin typeface="Space Grotesk"/>
                <a:ea typeface="Segoe UI"/>
              </a:rPr>
              <a:t>Co-create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Raise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2D3EE"/>
                </a:solidFill>
                <a:latin typeface="Space Grotesk"/>
                <a:ea typeface="Segoe UI"/>
              </a:rPr>
              <a:t>US$2M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72B6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88736" y="512064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527608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Post-money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555040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8B5CF6"/>
                </a:solidFill>
                <a:latin typeface="Space Grotesk"/>
                <a:ea typeface="Segoe UI"/>
              </a:rPr>
              <a:t>US$10M</a:t>
            </a:r>
          </a:p>
        </p:txBody>
      </p:sp>
      <p:pic>
        <p:nvPicPr>
          <p:cNvPr id="18" name="Picture 17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7160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>
                <a:solidFill>
                  <a:srgbClr val="F4EFFC"/>
                </a:solidFill>
                <a:latin typeface="Segoe UI"/>
                <a:ea typeface="Segoe UI"/>
              </a:rPr>
              <a:t>AI Is Eating Everything Copyable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550" b="0">
                <a:solidFill>
                  <a:srgbClr val="A99FC0"/>
                </a:solidFill>
                <a:latin typeface="Segoe UI"/>
                <a:ea typeface="Segoe UI"/>
              </a:rPr>
              <a:t>Support, design, copy, coding, entry-level roles — taken over by AI. Value migrates from copyable labor to the uncopyable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22D3EE"/>
                </a:solidFill>
                <a:latin typeface="Space Grotesk"/>
                <a:ea typeface="Segoe UI"/>
              </a:rPr>
              <a:t>$4.9T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2030 global AI economy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EC4899"/>
                </a:solidFill>
                <a:latin typeface="Space Grotesk"/>
                <a:ea typeface="Segoe UI"/>
              </a:rPr>
              <a:t>35%+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Automatable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017520"/>
            <a:ext cx="3520440" cy="219456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34290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F472B6"/>
                </a:solidFill>
                <a:latin typeface="Space Grotesk"/>
                <a:ea typeface="Segoe UI"/>
              </a:rPr>
              <a:t>$500B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4526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Creator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Segoe UI"/>
                <a:ea typeface="Segoe UI"/>
              </a:rPr>
              <a:t>→ Scarcity becomes the only premium.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MEGATREND · INDUSTRY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Segoe UI"/>
                <a:ea typeface="Segoe UI"/>
              </a:rPr>
              <a:t>The Stronger AI Gets, the More Personal IP Is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081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Institutional forecasts (IDC · Stanford HAI · Goldman Sachs · WEF · McKinsey): AI economy soars, jobs restructure, personal brand becomes the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Metric ·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6654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26771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Global AI economic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$3.2T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$3.8T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Space Grotesk"/>
                <a:ea typeface="Segoe UI"/>
              </a:rPr>
              <a:t>$4.9T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39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807208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606039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AI market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B5CF6"/>
                </a:solidFill>
                <a:latin typeface="Space Grotesk"/>
                <a:ea typeface="Segoe UI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45535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346703"/>
            <a:ext cx="100584" cy="10058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145535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Workforce cut (forecast)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5–10%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10–15%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15–20%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EC4899"/>
                </a:solidFill>
                <a:latin typeface="Space Grotesk"/>
                <a:ea typeface="Segoe UI"/>
              </a:rPr>
              <a:t>20–30%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85031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3886199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685031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Automatable 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B7185"/>
                </a:solidFill>
                <a:latin typeface="Space Grotesk"/>
                <a:ea typeface="Segoe UI"/>
              </a:rPr>
              <a:t>35%+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24527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4425695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224527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Creator economy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$400B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$440B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$470B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Segoe UI"/>
              </a:rPr>
              <a:t>$500B+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6402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4965191"/>
            <a:ext cx="100584" cy="1005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76402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AI-skill demand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Higher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Standard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A855F7"/>
                </a:solidFill>
                <a:latin typeface="Space Grotesk"/>
                <a:ea typeface="Segoe UI"/>
              </a:rPr>
              <a:t>Must-have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349240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</a:rPr>
              <a:t>Professionals pivot to the Creator Economy: </a:t>
            </a:r>
            <a:r>
              <a:rPr sz="1150" b="0">
                <a:solidFill>
                  <a:srgbClr val="F4EFFC"/>
                </a:solidFill>
                <a:latin typeface="Segoe UI"/>
                <a:ea typeface="Segoe UI"/>
              </a:rPr>
              <a:t>doctors · lawyers · accountants · teachers · realtors · agents all build personal IP — OneIP's users.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071616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A6F96"/>
                </a:solidFill>
                <a:latin typeface="Segoe UI"/>
                <a:ea typeface="Segoe UI"/>
              </a:rPr>
              <a:t>Sources: IDC / Stanford AI Index / Goldman Sachs / WEF / McKinsey (2024–2026). "Workforce cut" is a blended forecast range, not official data.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Only People &amp; Fans Can't Be Replaced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67127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305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Segoe UI"/>
                <a:ea typeface="Segoe UI"/>
              </a:rPr>
              <a:t>Personal IP / Creators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AI can assist, but can't BE that person. Personality, story, trust — inherently unique.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7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4133087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9651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Segoe UI"/>
                <a:ea typeface="Segoe UI"/>
              </a:rPr>
              <a:t>Fan Data / Fan Emotion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09159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Real attention &amp; emotion can't be generated. AI amplifies — it doesn't replace.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74519"/>
            <a:ext cx="4617720" cy="3703320"/>
          </a:xfrm>
          <a:prstGeom prst="roundRect">
            <a:avLst>
              <a:gd name="adj" fmla="val 8000"/>
            </a:avLst>
          </a:prstGeom>
          <a:solidFill>
            <a:srgbClr val="1B1232"/>
          </a:solidFill>
          <a:ln w="1524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2860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2D3EE"/>
                </a:solidFill>
                <a:latin typeface="Segoe UI"/>
                <a:ea typeface="Segoe UI"/>
              </a:rPr>
              <a:t>Pros pivot to 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97480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Doctors, lawyers, accountants, teachers, realtors, agents — all building personal brands.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9476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egoe UI"/>
                <a:ea typeface="Segoe U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1480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1">
                <a:solidFill>
                  <a:srgbClr val="F4EFFC"/>
                </a:solidFill>
                <a:latin typeface="Segoe UI"/>
                <a:ea typeface="Segoe UI"/>
              </a:rPr>
              <a:t>Demand for personal brands is exploding.</a:t>
            </a:r>
          </a:p>
        </p:txBody>
      </p:sp>
      <p:pic>
        <p:nvPicPr>
          <p:cNvPr id="18" name="Picture 17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02920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2712" y="5029200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30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30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30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30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30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30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pic>
        <p:nvPicPr>
          <p:cNvPr id="20" name="Picture 19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ANSWER · OneIP = OPC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OneIP: Turn Everyone Into a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One platform that turns personal brand into an issuable, tradable, monetizable asset — OPC, you are the company.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138928" cy="35661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Segoe UI"/>
              </a:rPr>
              <a:t>oneIP.ai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Create IP · Supply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8444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83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AI avatar · content at scale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1330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Standardized IP packs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68172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811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Compounding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057400"/>
            <a:ext cx="5138928" cy="35661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72B6"/>
                </a:solidFill>
                <a:latin typeface="Space Grotesk"/>
                <a:ea typeface="Segoe UI"/>
              </a:rPr>
              <a:t>oneIP.io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Trade IP · Liquidity</a:t>
            </a:r>
          </a:p>
        </p:txBody>
      </p:sp>
      <p:sp>
        <p:nvSpPr>
          <p:cNvPr id="18" name="Oval 17"/>
          <p:cNvSpPr/>
          <p:nvPr/>
        </p:nvSpPr>
        <p:spPr>
          <a:xfrm>
            <a:off x="6528816" y="358444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348386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1-click launch · terminal</a:t>
            </a:r>
          </a:p>
        </p:txBody>
      </p:sp>
      <p:sp>
        <p:nvSpPr>
          <p:cNvPr id="20" name="Oval 19"/>
          <p:cNvSpPr/>
          <p:nvPr/>
        </p:nvSpPr>
        <p:spPr>
          <a:xfrm>
            <a:off x="6528816" y="413308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40325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Connect fans · co-create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468172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45811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A99FC0"/>
                </a:solidFill>
                <a:latin typeface="Segoe UI"/>
                <a:ea typeface="Segoe UI"/>
              </a:rPr>
              <a:t>Fees + liquidity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3657600"/>
            <a:ext cx="603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8B5CF6"/>
                </a:solidFill>
                <a:latin typeface="Space Grotesk"/>
                <a:ea typeface="Segoe UI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Segoe UI"/>
                <a:ea typeface="Segoe UI"/>
              </a:rPr>
              <a:t>Create IP × Trade IP = a real-asset-backed IP economy.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A Trillion-Dollar IP Economy, Moving On-chain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The creator economy is surging; making fan emotion priceable &amp; tradable is its biggest unmet gap.</a:t>
            </a:r>
          </a:p>
        </p:txBody>
      </p:sp>
      <p:sp>
        <p:nvSpPr>
          <p:cNvPr id="6" name="Oval 5"/>
          <p:cNvSpPr/>
          <p:nvPr/>
        </p:nvSpPr>
        <p:spPr>
          <a:xfrm>
            <a:off x="1234439" y="2103120"/>
            <a:ext cx="4023360" cy="402336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8B5CF6"/>
            </a:solidFill>
          </a:ln>
          <a:effectLst>
            <a:outerShdw blurRad="228600" dist="0" dir="5400000" rotWithShape="0">
              <a:srgbClr val="8B5CF6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743200"/>
            <a:ext cx="2743200" cy="2743200"/>
          </a:xfrm>
          <a:prstGeom prst="ellipse">
            <a:avLst/>
          </a:prstGeom>
          <a:solidFill>
            <a:srgbClr val="150E26"/>
          </a:solidFill>
          <a:ln w="25400">
            <a:solidFill>
              <a:srgbClr val="EC4899"/>
            </a:solidFill>
          </a:ln>
          <a:effectLst>
            <a:outerShdw blurRad="228600" dist="0" dir="5400000" rotWithShape="0">
              <a:srgbClr val="EC489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79" y="3337560"/>
            <a:ext cx="1554480" cy="155448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22D3EE"/>
            </a:solidFill>
          </a:ln>
          <a:effectLst>
            <a:outerShdw blurRad="228600" dist="0" dir="5400000" rotWithShape="0">
              <a:srgbClr val="22D3EE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79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B5CF6"/>
                </a:solidFill>
                <a:latin typeface="Space Grotesk"/>
                <a:ea typeface="Segoe UI"/>
              </a:rPr>
              <a:t>TAM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4EFFC"/>
                </a:solidFill>
                <a:latin typeface="Space Grotesk"/>
                <a:ea typeface="Segoe UI"/>
              </a:rPr>
              <a:t>$250B+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79" y="31272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Space Grotesk"/>
                <a:ea typeface="Segoe UI"/>
              </a:rPr>
              <a:t>SAM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Segoe UI"/>
              </a:rPr>
              <a:t>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Space Grotesk"/>
                <a:ea typeface="Segoe UI"/>
              </a:rPr>
              <a:t>SOM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Segoe UI"/>
              </a:rPr>
              <a:t>$1.5B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0" y="2596896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286000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TAM · Global creator economy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82112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3493008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3182112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SAM · Tokenizable IP market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78224"/>
            <a:ext cx="5120640" cy="777240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0" y="438912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078224"/>
            <a:ext cx="438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SOM · Obtainable in 3 yrs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Drivers: </a:t>
            </a:r>
            <a:r>
              <a:rPr sz="1150" b="0">
                <a:solidFill>
                  <a:srgbClr val="F4EFFC"/>
                </a:solidFill>
                <a:latin typeface="Segoe UI"/>
                <a:ea typeface="Segoe UI"/>
              </a:rPr>
              <a:t>~20% creator-economy CAGR · surging fan-token demand · KOL supply · fans pay for belonging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852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* Public-data estimates.</a:t>
            </a:r>
          </a:p>
        </p:txBody>
      </p:sp>
      <p:pic>
        <p:nvPicPr>
          <p:cNvPr id="23" name="Picture 2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AI Supply × On-chain Liquidity =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Segoe UI"/>
                <a:ea typeface="Segoe UI"/>
              </a:rPr>
              <a:t>Others just launch tokens (speculative). We secure real supply via AI and liquidity via chain.</a:t>
            </a:r>
          </a:p>
        </p:txBody>
      </p:sp>
      <p:sp>
        <p:nvSpPr>
          <p:cNvPr id="6" name="Oval 5"/>
          <p:cNvSpPr/>
          <p:nvPr/>
        </p:nvSpPr>
        <p:spPr>
          <a:xfrm>
            <a:off x="5135270" y="3108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45000">
                <a:srgbClr val="8B5CF6"/>
              </a:gs>
              <a:gs pos="100000">
                <a:srgbClr val="EC4899"/>
              </a:gs>
            </a:gsLst>
            <a:lin ang="3600000" scaled="1"/>
          </a:gradFill>
          <a:ln>
            <a:noFill/>
          </a:ln>
          <a:effectLst>
            <a:outerShdw blurRad="330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5270" y="3502152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Space Grotesk"/>
                <a:ea typeface="Segoe UI"/>
              </a:rPr>
              <a:t>OneIP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</a:rPr>
              <a:t>Flywheel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847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22D3EE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135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AI keeps producing IP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190" y="52349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F472B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070" y="52349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On-chain launch · liquidity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191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EC4899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479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Trading monetizes · rewards creators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190" y="20345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070" y="20345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More IPs / brands onboard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FUTURE · WEB4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Segoe UI"/>
                <a:ea typeface="Segoe UI"/>
              </a:rPr>
              <a:t>Web4: Fans as Assets, an IP Economy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Once enough brands, influencers and fan data aggregate, scale effects drive exponential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Brands &amp; 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8B5CF6"/>
                </a:solidFill>
                <a:latin typeface="Space Grotesk"/>
                <a:ea typeface="Segoe UI"/>
              </a:rPr>
              <a:t>30,000+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Influencer / creator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EC4899"/>
                </a:solidFill>
                <a:latin typeface="Space Grotesk"/>
                <a:ea typeface="Segoe UI"/>
              </a:rPr>
              <a:t>200,000+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Fans reached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472B6"/>
                </a:solidFill>
                <a:latin typeface="Space Grotesk"/>
                <a:ea typeface="Segoe UI"/>
              </a:rPr>
              <a:t>300M+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Annual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22D3EE"/>
                </a:solidFill>
                <a:latin typeface="Space Grotesk"/>
                <a:ea typeface="Segoe UI"/>
              </a:rPr>
              <a:t>$3B+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703320"/>
          <a:ext cx="63093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269480" y="3611880"/>
            <a:ext cx="4251960" cy="2606040"/>
          </a:xfrm>
          <a:prstGeom prst="roundRect">
            <a:avLst>
              <a:gd name="adj" fmla="val 9000"/>
            </a:avLst>
          </a:prstGeom>
          <a:solidFill>
            <a:srgbClr val="1B1232"/>
          </a:solidFill>
          <a:ln w="1778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712463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2028E platform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950208"/>
            <a:ext cx="3794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2D3EE"/>
                </a:solidFill>
                <a:latin typeface="Space Grotesk"/>
                <a:ea typeface="Segoe UI"/>
              </a:rPr>
              <a:t>$150M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1713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Segoe UI"/>
                <a:ea typeface="Segoe UI"/>
              </a:rPr>
              <a:t>Valuation = revenue × 40× 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2028E company 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65776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700" b="1">
                <a:solidFill>
                  <a:srgbClr val="F472B6"/>
                </a:solidFill>
                <a:latin typeface="Space Grotesk"/>
                <a:ea typeface="Segoe UI"/>
              </a:rPr>
              <a:t>$6B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81558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7A6F96"/>
                </a:solidFill>
                <a:latin typeface="Segoe UI"/>
                <a:ea typeface="Segoe UI"/>
              </a:rPr>
              <a:t>* 40× PE estimate; vision assumption under a scale scenario, not a forecast.</a:t>
            </a:r>
          </a:p>
        </p:txBody>
      </p:sp>
      <p:pic>
        <p:nvPicPr>
          <p:cNvPr id="30" name="Picture 29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Story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ASK · 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Segoe UI"/>
                <a:ea typeface="Segoe UI"/>
              </a:rPr>
              <a:t>Raising US$2M · for 20%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US$10M post-money · 18-month runway to prove the dual-engine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0604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EFFC"/>
                </a:solidFill>
                <a:latin typeface="Segoe UI"/>
                <a:ea typeface="Segoe UI"/>
              </a:rPr>
              <a:t>Give every unique IP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4EFFC"/>
                </a:solidFill>
                <a:latin typeface="Segoe UI"/>
                <a:ea typeface="Segoe UI"/>
              </a:rPr>
              <a:t>its own on-chain economy.</a:t>
            </a:r>
          </a:p>
        </p:txBody>
      </p:sp>
      <p:pic>
        <p:nvPicPr>
          <p:cNvPr id="7" name="Picture 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434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2496" y="4343400"/>
            <a:ext cx="6858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44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44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44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44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44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44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Segoe UI"/>
              </a:rPr>
              <a:t>OneIP + OPC</a:t>
            </a:r>
            <a:r>
              <a:rPr sz="1500" b="1">
                <a:solidFill>
                  <a:srgbClr val="F472B6"/>
                </a:solidFill>
                <a:latin typeface="Segoe UI"/>
                <a:ea typeface="Segoe UI"/>
              </a:rPr>
              <a:t>　·　One of a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Segoe UI"/>
              </a:rPr>
              <a:t>oneIP.io</a:t>
            </a:r>
            <a:r>
              <a:rPr sz="1400" b="0">
                <a:solidFill>
                  <a:srgbClr val="7A6F96"/>
                </a:solidFill>
                <a:latin typeface="Space Grotesk"/>
                <a:ea typeface="Segoe UI"/>
              </a:rPr>
              <a:t>　/　</a:t>
            </a:r>
            <a:r>
              <a:rPr sz="1400" b="1">
                <a:solidFill>
                  <a:srgbClr val="22D3EE"/>
                </a:solidFill>
                <a:latin typeface="Space Grotesk"/>
                <a:ea typeface="Segoe UI"/>
              </a:rPr>
              <a:t>oneIP.ai</a:t>
            </a:r>
            <a:r>
              <a:rPr sz="1300" b="0">
                <a:solidFill>
                  <a:srgbClr val="A99FC0"/>
                </a:solidFill>
                <a:latin typeface="Space Grotesk"/>
                <a:ea typeface="Segoe UI"/>
              </a:rPr>
              <a:t>　　bossses001@gmail.com</a:t>
            </a:r>
          </a:p>
        </p:txBody>
      </p:sp>
      <p:pic>
        <p:nvPicPr>
          <p:cNvPr id="11" name="Picture 10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3736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